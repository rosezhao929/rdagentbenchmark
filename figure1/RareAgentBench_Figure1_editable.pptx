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335000" cy="52863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9" d="100"/>
          <a:sy n="109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anel-separator-left">
            <a:extLst>
              <a:ext uri="{FF2B5EF4-FFF2-40B4-BE49-F238E27FC236}">
                <a16:creationId xmlns:a16="http://schemas.microsoft.com/office/drawing/2014/main" id="{799C226F-CC00-4A1C-B52B-25F6F5990D60}"/>
              </a:ext>
            </a:extLst>
          </p:cNvPr>
          <p:cNvSpPr>
            <a:spLocks noGrp="1"/>
          </p:cNvSpPr>
          <p:nvPr/>
        </p:nvSpPr>
        <p:spPr>
          <a:xfrm>
            <a:off x="3381375" y="228600"/>
            <a:ext cx="0" cy="4819650"/>
          </a:xfrm>
          <a:prstGeom prst="line">
            <a:avLst/>
          </a:prstGeom>
          <a:noFill/>
          <a:ln w="190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" name="flow-left-to-center">
            <a:extLst>
              <a:ext uri="{FF2B5EF4-FFF2-40B4-BE49-F238E27FC236}">
                <a16:creationId xmlns:a16="http://schemas.microsoft.com/office/drawing/2014/main" id="{072B2998-48BF-4487-8C35-1DE18593A5B0}"/>
              </a:ext>
            </a:extLst>
          </p:cNvPr>
          <p:cNvSpPr>
            <a:spLocks noGrp="1"/>
          </p:cNvSpPr>
          <p:nvPr/>
        </p:nvSpPr>
        <p:spPr>
          <a:xfrm>
            <a:off x="3162300" y="2647950"/>
            <a:ext cx="400050" cy="161925"/>
          </a:xfrm>
          <a:prstGeom prst="rightArrow">
            <a:avLst/>
          </a:prstGeom>
          <a:solidFill>
            <a:srgbClr val="172033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flow-center-to-right">
            <a:extLst>
              <a:ext uri="{FF2B5EF4-FFF2-40B4-BE49-F238E27FC236}">
                <a16:creationId xmlns:a16="http://schemas.microsoft.com/office/drawing/2014/main" id="{75F94E5A-A880-465C-AB44-2B2C10F07B43}"/>
              </a:ext>
            </a:extLst>
          </p:cNvPr>
          <p:cNvSpPr>
            <a:spLocks noGrp="1"/>
          </p:cNvSpPr>
          <p:nvPr/>
        </p:nvSpPr>
        <p:spPr>
          <a:xfrm>
            <a:off x="9334500" y="2647950"/>
            <a:ext cx="400050" cy="161925"/>
          </a:xfrm>
          <a:prstGeom prst="rightArrow">
            <a:avLst/>
          </a:prstGeom>
          <a:solidFill>
            <a:srgbClr val="172033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panel-separator-right">
            <a:extLst>
              <a:ext uri="{FF2B5EF4-FFF2-40B4-BE49-F238E27FC236}">
                <a16:creationId xmlns:a16="http://schemas.microsoft.com/office/drawing/2014/main" id="{91DACB5E-F6E7-487E-A0D4-5A9BEFF711BE}"/>
              </a:ext>
            </a:extLst>
          </p:cNvPr>
          <p:cNvSpPr>
            <a:spLocks noGrp="1"/>
          </p:cNvSpPr>
          <p:nvPr/>
        </p:nvSpPr>
        <p:spPr>
          <a:xfrm>
            <a:off x="9525000" y="228600"/>
            <a:ext cx="0" cy="4819650"/>
          </a:xfrm>
          <a:prstGeom prst="line">
            <a:avLst/>
          </a:prstGeom>
          <a:noFill/>
          <a:ln w="190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panel-a-title">
            <a:extLst>
              <a:ext uri="{FF2B5EF4-FFF2-40B4-BE49-F238E27FC236}">
                <a16:creationId xmlns:a16="http://schemas.microsoft.com/office/drawing/2014/main" id="{707A90D5-1FBF-4F52-ACA3-8EF44DAA7145}"/>
              </a:ext>
            </a:extLst>
          </p:cNvPr>
          <p:cNvSpPr>
            <a:spLocks noGrp="1"/>
          </p:cNvSpPr>
          <p:nvPr/>
        </p:nvSpPr>
        <p:spPr>
          <a:xfrm>
            <a:off x="209550" y="190500"/>
            <a:ext cx="2886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(a) Layered data stack</a:t>
            </a:r>
          </a:p>
        </p:txBody>
      </p:sp>
      <p:sp>
        <p:nvSpPr>
          <p:cNvPr id="6" name="panel-a-rule">
            <a:extLst>
              <a:ext uri="{FF2B5EF4-FFF2-40B4-BE49-F238E27FC236}">
                <a16:creationId xmlns:a16="http://schemas.microsoft.com/office/drawing/2014/main" id="{B48265CF-E89F-4275-937C-4A2F4C68070D}"/>
              </a:ext>
            </a:extLst>
          </p:cNvPr>
          <p:cNvSpPr>
            <a:spLocks noGrp="1"/>
          </p:cNvSpPr>
          <p:nvPr/>
        </p:nvSpPr>
        <p:spPr>
          <a:xfrm>
            <a:off x="209550" y="542925"/>
            <a:ext cx="2886075" cy="0"/>
          </a:xfrm>
          <a:prstGeom prst="line">
            <a:avLst/>
          </a:prstGeom>
          <a:noFill/>
          <a:ln w="190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panel-b-title">
            <a:extLst>
              <a:ext uri="{FF2B5EF4-FFF2-40B4-BE49-F238E27FC236}">
                <a16:creationId xmlns:a16="http://schemas.microsoft.com/office/drawing/2014/main" id="{36B390C6-9179-40B9-A51B-C24E04E8EDBE}"/>
              </a:ext>
            </a:extLst>
          </p:cNvPr>
          <p:cNvSpPr>
            <a:spLocks noGrp="1"/>
          </p:cNvSpPr>
          <p:nvPr/>
        </p:nvSpPr>
        <p:spPr>
          <a:xfrm>
            <a:off x="3667125" y="190500"/>
            <a:ext cx="557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(b) Evidence-controlled task construction</a:t>
            </a:r>
          </a:p>
        </p:txBody>
      </p:sp>
      <p:sp>
        <p:nvSpPr>
          <p:cNvPr id="8" name="panel-b-rule">
            <a:extLst>
              <a:ext uri="{FF2B5EF4-FFF2-40B4-BE49-F238E27FC236}">
                <a16:creationId xmlns:a16="http://schemas.microsoft.com/office/drawing/2014/main" id="{C15226EE-A401-4FD3-A160-FDB71B05E74D}"/>
              </a:ext>
            </a:extLst>
          </p:cNvPr>
          <p:cNvSpPr>
            <a:spLocks noGrp="1"/>
          </p:cNvSpPr>
          <p:nvPr/>
        </p:nvSpPr>
        <p:spPr>
          <a:xfrm>
            <a:off x="3667125" y="542925"/>
            <a:ext cx="5572125" cy="0"/>
          </a:xfrm>
          <a:prstGeom prst="line">
            <a:avLst/>
          </a:prstGeom>
          <a:noFill/>
          <a:ln w="190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panel-c-title">
            <a:extLst>
              <a:ext uri="{FF2B5EF4-FFF2-40B4-BE49-F238E27FC236}">
                <a16:creationId xmlns:a16="http://schemas.microsoft.com/office/drawing/2014/main" id="{3E8C3114-CF5C-40E4-BC07-71541E65B0DB}"/>
              </a:ext>
            </a:extLst>
          </p:cNvPr>
          <p:cNvSpPr>
            <a:spLocks noGrp="1"/>
          </p:cNvSpPr>
          <p:nvPr/>
        </p:nvSpPr>
        <p:spPr>
          <a:xfrm>
            <a:off x="9791700" y="1905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(c) Agent-native evaluation</a:t>
            </a:r>
          </a:p>
        </p:txBody>
      </p:sp>
      <p:sp>
        <p:nvSpPr>
          <p:cNvPr id="10" name="panel-c-rule">
            <a:extLst>
              <a:ext uri="{FF2B5EF4-FFF2-40B4-BE49-F238E27FC236}">
                <a16:creationId xmlns:a16="http://schemas.microsoft.com/office/drawing/2014/main" id="{02AD600D-AA3B-4BC9-8FE9-010C64E503FD}"/>
              </a:ext>
            </a:extLst>
          </p:cNvPr>
          <p:cNvSpPr>
            <a:spLocks noGrp="1"/>
          </p:cNvSpPr>
          <p:nvPr/>
        </p:nvSpPr>
        <p:spPr>
          <a:xfrm>
            <a:off x="9791700" y="542925"/>
            <a:ext cx="3333750" cy="0"/>
          </a:xfrm>
          <a:prstGeom prst="line">
            <a:avLst/>
          </a:prstGeom>
          <a:noFill/>
          <a:ln w="190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layer-1-card">
            <a:extLst>
              <a:ext uri="{FF2B5EF4-FFF2-40B4-BE49-F238E27FC236}">
                <a16:creationId xmlns:a16="http://schemas.microsoft.com/office/drawing/2014/main" id="{255C929A-6D81-4C05-BD37-A216D1C45B47}"/>
              </a:ext>
            </a:extLst>
          </p:cNvPr>
          <p:cNvSpPr>
            <a:spLocks noGrp="1"/>
          </p:cNvSpPr>
          <p:nvPr/>
        </p:nvSpPr>
        <p:spPr>
          <a:xfrm>
            <a:off x="209550" y="742950"/>
            <a:ext cx="2905125" cy="742950"/>
          </a:xfrm>
          <a:prstGeom prst="roundRect">
            <a:avLst>
              <a:gd name="adj" fmla="val 12821"/>
            </a:avLst>
          </a:prstGeom>
          <a:solidFill>
            <a:srgbClr val="EDF4FF"/>
          </a:solidFill>
          <a:ln w="15240">
            <a:solidFill>
              <a:srgbClr val="7DA7D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layer-1-accent">
            <a:extLst>
              <a:ext uri="{FF2B5EF4-FFF2-40B4-BE49-F238E27FC236}">
                <a16:creationId xmlns:a16="http://schemas.microsoft.com/office/drawing/2014/main" id="{1AA382D1-64B9-4776-A090-CE19D112DFB7}"/>
              </a:ext>
            </a:extLst>
          </p:cNvPr>
          <p:cNvSpPr>
            <a:spLocks noGrp="1"/>
          </p:cNvSpPr>
          <p:nvPr/>
        </p:nvSpPr>
        <p:spPr>
          <a:xfrm>
            <a:off x="209550" y="7429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layer-1-title">
            <a:extLst>
              <a:ext uri="{FF2B5EF4-FFF2-40B4-BE49-F238E27FC236}">
                <a16:creationId xmlns:a16="http://schemas.microsoft.com/office/drawing/2014/main" id="{3BAB8C02-38E5-46FB-88BE-A982DDF77676}"/>
              </a:ext>
            </a:extLst>
          </p:cNvPr>
          <p:cNvSpPr>
            <a:spLocks noGrp="1"/>
          </p:cNvSpPr>
          <p:nvPr/>
        </p:nvSpPr>
        <p:spPr>
          <a:xfrm>
            <a:off x="428625" y="866775"/>
            <a:ext cx="2524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L1  Structured phenotype</a:t>
            </a:r>
          </a:p>
        </p:txBody>
      </p:sp>
      <p:sp>
        <p:nvSpPr>
          <p:cNvPr id="14" name="layer-1-body">
            <a:extLst>
              <a:ext uri="{FF2B5EF4-FFF2-40B4-BE49-F238E27FC236}">
                <a16:creationId xmlns:a16="http://schemas.microsoft.com/office/drawing/2014/main" id="{A4B36378-6AA7-4868-9CFC-E92084422DC3}"/>
              </a:ext>
            </a:extLst>
          </p:cNvPr>
          <p:cNvSpPr>
            <a:spLocks noGrp="1"/>
          </p:cNvSpPr>
          <p:nvPr/>
        </p:nvSpPr>
        <p:spPr>
          <a:xfrm>
            <a:off x="428625" y="1095375"/>
            <a:ext cx="2524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Phenopacket Store 10,051</a:t>
            </a:r>
          </a:p>
        </p:txBody>
      </p:sp>
      <p:sp>
        <p:nvSpPr>
          <p:cNvPr id="15" name="layer-1-small">
            <a:extLst>
              <a:ext uri="{FF2B5EF4-FFF2-40B4-BE49-F238E27FC236}">
                <a16:creationId xmlns:a16="http://schemas.microsoft.com/office/drawing/2014/main" id="{DB66E9E8-16AF-4848-B92E-02F96103AF57}"/>
              </a:ext>
            </a:extLst>
          </p:cNvPr>
          <p:cNvSpPr>
            <a:spLocks noGrp="1"/>
          </p:cNvSpPr>
          <p:nvPr/>
        </p:nvSpPr>
        <p:spPr>
          <a:xfrm>
            <a:off x="428625" y="1285875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750"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RareBench 1,122 · HPO ± variants</a:t>
            </a:r>
          </a:p>
        </p:txBody>
      </p:sp>
      <p:sp>
        <p:nvSpPr>
          <p:cNvPr id="16" name="layer-2-card">
            <a:extLst>
              <a:ext uri="{FF2B5EF4-FFF2-40B4-BE49-F238E27FC236}">
                <a16:creationId xmlns:a16="http://schemas.microsoft.com/office/drawing/2014/main" id="{BEBEB7C3-0949-4ABF-B5BB-FB1E9412F38F}"/>
              </a:ext>
            </a:extLst>
          </p:cNvPr>
          <p:cNvSpPr>
            <a:spLocks noGrp="1"/>
          </p:cNvSpPr>
          <p:nvPr/>
        </p:nvSpPr>
        <p:spPr>
          <a:xfrm>
            <a:off x="209550" y="1619250"/>
            <a:ext cx="2905125" cy="742950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7" name="layer-2-accent">
            <a:extLst>
              <a:ext uri="{FF2B5EF4-FFF2-40B4-BE49-F238E27FC236}">
                <a16:creationId xmlns:a16="http://schemas.microsoft.com/office/drawing/2014/main" id="{F237DF11-5EB7-4D4A-B7E4-CFB70EC47827}"/>
              </a:ext>
            </a:extLst>
          </p:cNvPr>
          <p:cNvSpPr>
            <a:spLocks noGrp="1"/>
          </p:cNvSpPr>
          <p:nvPr/>
        </p:nvSpPr>
        <p:spPr>
          <a:xfrm>
            <a:off x="209550" y="16192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layer-2-title">
            <a:extLst>
              <a:ext uri="{FF2B5EF4-FFF2-40B4-BE49-F238E27FC236}">
                <a16:creationId xmlns:a16="http://schemas.microsoft.com/office/drawing/2014/main" id="{B3CA23FD-8DE7-4C41-9E61-D09DB19496C7}"/>
              </a:ext>
            </a:extLst>
          </p:cNvPr>
          <p:cNvSpPr>
            <a:spLocks noGrp="1"/>
          </p:cNvSpPr>
          <p:nvPr/>
        </p:nvSpPr>
        <p:spPr>
          <a:xfrm>
            <a:off x="428625" y="1743075"/>
            <a:ext cx="2524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L2  Gated EHR cohort</a:t>
            </a:r>
          </a:p>
        </p:txBody>
      </p:sp>
      <p:sp>
        <p:nvSpPr>
          <p:cNvPr id="19" name="layer-2-body">
            <a:extLst>
              <a:ext uri="{FF2B5EF4-FFF2-40B4-BE49-F238E27FC236}">
                <a16:creationId xmlns:a16="http://schemas.microsoft.com/office/drawing/2014/main" id="{B519AC43-086D-4636-A157-3A4A93FA10E5}"/>
              </a:ext>
            </a:extLst>
          </p:cNvPr>
          <p:cNvSpPr>
            <a:spLocks noGrp="1"/>
          </p:cNvSpPr>
          <p:nvPr/>
        </p:nvSpPr>
        <p:spPr>
          <a:xfrm>
            <a:off x="428625" y="1971675"/>
            <a:ext cx="2524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MIMIC-IV · pending freeze</a:t>
            </a:r>
          </a:p>
        </p:txBody>
      </p:sp>
      <p:sp>
        <p:nvSpPr>
          <p:cNvPr id="20" name="layer-2-small">
            <a:extLst>
              <a:ext uri="{FF2B5EF4-FFF2-40B4-BE49-F238E27FC236}">
                <a16:creationId xmlns:a16="http://schemas.microsoft.com/office/drawing/2014/main" id="{017F6678-0908-4056-B76B-7062181CA100}"/>
              </a:ext>
            </a:extLst>
          </p:cNvPr>
          <p:cNvSpPr>
            <a:spLocks noGrp="1"/>
          </p:cNvSpPr>
          <p:nvPr/>
        </p:nvSpPr>
        <p:spPr>
          <a:xfrm>
            <a:off x="428625" y="2162175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750"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ICD-derived slice · editable count</a:t>
            </a:r>
          </a:p>
        </p:txBody>
      </p:sp>
      <p:sp>
        <p:nvSpPr>
          <p:cNvPr id="21" name="layer-3-card">
            <a:extLst>
              <a:ext uri="{FF2B5EF4-FFF2-40B4-BE49-F238E27FC236}">
                <a16:creationId xmlns:a16="http://schemas.microsoft.com/office/drawing/2014/main" id="{B32BBDE6-5154-411E-A2CC-6184E7DE2BC0}"/>
              </a:ext>
            </a:extLst>
          </p:cNvPr>
          <p:cNvSpPr>
            <a:spLocks noGrp="1"/>
          </p:cNvSpPr>
          <p:nvPr/>
        </p:nvSpPr>
        <p:spPr>
          <a:xfrm>
            <a:off x="209550" y="2495550"/>
            <a:ext cx="2905125" cy="742950"/>
          </a:xfrm>
          <a:prstGeom prst="roundRect">
            <a:avLst>
              <a:gd name="adj" fmla="val 12821"/>
            </a:avLst>
          </a:prstGeom>
          <a:solidFill>
            <a:srgbClr val="EDF4FF"/>
          </a:solidFill>
          <a:ln w="15240">
            <a:solidFill>
              <a:srgbClr val="7DA7D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layer-3-accent">
            <a:extLst>
              <a:ext uri="{FF2B5EF4-FFF2-40B4-BE49-F238E27FC236}">
                <a16:creationId xmlns:a16="http://schemas.microsoft.com/office/drawing/2014/main" id="{A8E1B4CE-BBFA-408D-9CAB-9BFE84A5EF2C}"/>
              </a:ext>
            </a:extLst>
          </p:cNvPr>
          <p:cNvSpPr>
            <a:spLocks noGrp="1"/>
          </p:cNvSpPr>
          <p:nvPr/>
        </p:nvSpPr>
        <p:spPr>
          <a:xfrm>
            <a:off x="209550" y="24955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layer-3-title">
            <a:extLst>
              <a:ext uri="{FF2B5EF4-FFF2-40B4-BE49-F238E27FC236}">
                <a16:creationId xmlns:a16="http://schemas.microsoft.com/office/drawing/2014/main" id="{3FC84032-819B-4A04-B0EA-E2E3FF72A498}"/>
              </a:ext>
            </a:extLst>
          </p:cNvPr>
          <p:cNvSpPr>
            <a:spLocks noGrp="1"/>
          </p:cNvSpPr>
          <p:nvPr/>
        </p:nvSpPr>
        <p:spPr>
          <a:xfrm>
            <a:off x="428625" y="2619375"/>
            <a:ext cx="2524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L3  Free-text scale</a:t>
            </a:r>
          </a:p>
        </p:txBody>
      </p:sp>
      <p:sp>
        <p:nvSpPr>
          <p:cNvPr id="24" name="layer-3-body">
            <a:extLst>
              <a:ext uri="{FF2B5EF4-FFF2-40B4-BE49-F238E27FC236}">
                <a16:creationId xmlns:a16="http://schemas.microsoft.com/office/drawing/2014/main" id="{47479A56-83A9-4A64-A458-D4B089E972FE}"/>
              </a:ext>
            </a:extLst>
          </p:cNvPr>
          <p:cNvSpPr>
            <a:spLocks noGrp="1"/>
          </p:cNvSpPr>
          <p:nvPr/>
        </p:nvSpPr>
        <p:spPr>
          <a:xfrm>
            <a:off x="428625" y="2847975"/>
            <a:ext cx="2524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RareArena 72,661 task instances</a:t>
            </a:r>
          </a:p>
        </p:txBody>
      </p:sp>
      <p:sp>
        <p:nvSpPr>
          <p:cNvPr id="25" name="layer-3-small">
            <a:extLst>
              <a:ext uri="{FF2B5EF4-FFF2-40B4-BE49-F238E27FC236}">
                <a16:creationId xmlns:a16="http://schemas.microsoft.com/office/drawing/2014/main" id="{3E37B906-796D-48BF-AC49-C1A961F2F473}"/>
              </a:ext>
            </a:extLst>
          </p:cNvPr>
          <p:cNvSpPr>
            <a:spLocks noGrp="1"/>
          </p:cNvSpPr>
          <p:nvPr/>
        </p:nvSpPr>
        <p:spPr>
          <a:xfrm>
            <a:off x="428625" y="3038475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750"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49,760 screening · 22,901 confirmation</a:t>
            </a:r>
          </a:p>
        </p:txBody>
      </p:sp>
      <p:sp>
        <p:nvSpPr>
          <p:cNvPr id="26" name="layer-4-card">
            <a:extLst>
              <a:ext uri="{FF2B5EF4-FFF2-40B4-BE49-F238E27FC236}">
                <a16:creationId xmlns:a16="http://schemas.microsoft.com/office/drawing/2014/main" id="{6DF2539A-93B7-46C7-ABF6-E05B81F93653}"/>
              </a:ext>
            </a:extLst>
          </p:cNvPr>
          <p:cNvSpPr>
            <a:spLocks noGrp="1"/>
          </p:cNvSpPr>
          <p:nvPr/>
        </p:nvSpPr>
        <p:spPr>
          <a:xfrm>
            <a:off x="209550" y="3371850"/>
            <a:ext cx="2905125" cy="742950"/>
          </a:xfrm>
          <a:prstGeom prst="roundRect">
            <a:avLst>
              <a:gd name="adj" fmla="val 12821"/>
            </a:avLst>
          </a:prstGeom>
          <a:solidFill>
            <a:srgbClr val="EDF4FF"/>
          </a:solidFill>
          <a:ln w="15240">
            <a:solidFill>
              <a:srgbClr val="7DA7D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layer-4-accent">
            <a:extLst>
              <a:ext uri="{FF2B5EF4-FFF2-40B4-BE49-F238E27FC236}">
                <a16:creationId xmlns:a16="http://schemas.microsoft.com/office/drawing/2014/main" id="{3F038B04-A367-46B2-8E2C-64118B9E5053}"/>
              </a:ext>
            </a:extLst>
          </p:cNvPr>
          <p:cNvSpPr>
            <a:spLocks noGrp="1"/>
          </p:cNvSpPr>
          <p:nvPr/>
        </p:nvSpPr>
        <p:spPr>
          <a:xfrm>
            <a:off x="209550" y="33718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layer-4-title">
            <a:extLst>
              <a:ext uri="{FF2B5EF4-FFF2-40B4-BE49-F238E27FC236}">
                <a16:creationId xmlns:a16="http://schemas.microsoft.com/office/drawing/2014/main" id="{A60AEA88-20FF-4422-A110-296D50E679F0}"/>
              </a:ext>
            </a:extLst>
          </p:cNvPr>
          <p:cNvSpPr>
            <a:spLocks noGrp="1"/>
          </p:cNvSpPr>
          <p:nvPr/>
        </p:nvSpPr>
        <p:spPr>
          <a:xfrm>
            <a:off x="428625" y="3495675"/>
            <a:ext cx="2524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L4  Temporal robustness</a:t>
            </a:r>
          </a:p>
        </p:txBody>
      </p:sp>
      <p:sp>
        <p:nvSpPr>
          <p:cNvPr id="29" name="layer-4-body">
            <a:extLst>
              <a:ext uri="{FF2B5EF4-FFF2-40B4-BE49-F238E27FC236}">
                <a16:creationId xmlns:a16="http://schemas.microsoft.com/office/drawing/2014/main" id="{D7DD881C-8FC7-4295-9BA4-A7F0FD4D95FD}"/>
              </a:ext>
            </a:extLst>
          </p:cNvPr>
          <p:cNvSpPr>
            <a:spLocks noGrp="1"/>
          </p:cNvSpPr>
          <p:nvPr/>
        </p:nvSpPr>
        <p:spPr>
          <a:xfrm>
            <a:off x="428625" y="3724275"/>
            <a:ext cx="2524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PMC-OA pre / post split</a:t>
            </a:r>
          </a:p>
        </p:txBody>
      </p:sp>
      <p:sp>
        <p:nvSpPr>
          <p:cNvPr id="30" name="layer-4-small">
            <a:extLst>
              <a:ext uri="{FF2B5EF4-FFF2-40B4-BE49-F238E27FC236}">
                <a16:creationId xmlns:a16="http://schemas.microsoft.com/office/drawing/2014/main" id="{88DC36E8-FB93-4565-9F6F-A4B84C3FE33E}"/>
              </a:ext>
            </a:extLst>
          </p:cNvPr>
          <p:cNvSpPr>
            <a:spLocks noGrp="1"/>
          </p:cNvSpPr>
          <p:nvPr/>
        </p:nvSpPr>
        <p:spPr>
          <a:xfrm>
            <a:off x="428625" y="3914775"/>
            <a:ext cx="2524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750"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Exact-ID clean: 206 / 180 cases</a:t>
            </a:r>
          </a:p>
        </p:txBody>
      </p:sp>
      <p:sp>
        <p:nvSpPr>
          <p:cNvPr id="31" name="data-summary">
            <a:extLst>
              <a:ext uri="{FF2B5EF4-FFF2-40B4-BE49-F238E27FC236}">
                <a16:creationId xmlns:a16="http://schemas.microsoft.com/office/drawing/2014/main" id="{0805F296-5EB4-4BFF-A6A8-328DC5C5A27C}"/>
              </a:ext>
            </a:extLst>
          </p:cNvPr>
          <p:cNvSpPr>
            <a:spLocks noGrp="1"/>
          </p:cNvSpPr>
          <p:nvPr/>
        </p:nvSpPr>
        <p:spPr>
          <a:xfrm>
            <a:off x="209550" y="4362450"/>
            <a:ext cx="2905125" cy="552450"/>
          </a:xfrm>
          <a:prstGeom prst="roundRect">
            <a:avLst>
              <a:gd name="adj" fmla="val 17241"/>
            </a:avLst>
          </a:prstGeom>
          <a:solidFill>
            <a:srgbClr val="F5F8FC"/>
          </a:solidFill>
          <a:ln w="11430">
            <a:solidFill>
              <a:srgbClr val="7DA7D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data-summary-title">
            <a:extLst>
              <a:ext uri="{FF2B5EF4-FFF2-40B4-BE49-F238E27FC236}">
                <a16:creationId xmlns:a16="http://schemas.microsoft.com/office/drawing/2014/main" id="{C3FDE855-2A01-407B-98B1-32170A151678}"/>
              </a:ext>
            </a:extLst>
          </p:cNvPr>
          <p:cNvSpPr>
            <a:spLocks noGrp="1"/>
          </p:cNvSpPr>
          <p:nvPr/>
        </p:nvSpPr>
        <p:spPr>
          <a:xfrm>
            <a:off x="381000" y="4457700"/>
            <a:ext cx="2562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One canonical schema</a:t>
            </a:r>
          </a:p>
        </p:txBody>
      </p:sp>
      <p:sp>
        <p:nvSpPr>
          <p:cNvPr id="33" name="data-summary-small">
            <a:extLst>
              <a:ext uri="{FF2B5EF4-FFF2-40B4-BE49-F238E27FC236}">
                <a16:creationId xmlns:a16="http://schemas.microsoft.com/office/drawing/2014/main" id="{0622A1BB-D7A4-4D08-8C52-ACCC0A9D715D}"/>
              </a:ext>
            </a:extLst>
          </p:cNvPr>
          <p:cNvSpPr>
            <a:spLocks noGrp="1"/>
          </p:cNvSpPr>
          <p:nvPr/>
        </p:nvSpPr>
        <p:spPr>
          <a:xfrm>
            <a:off x="381000" y="4686300"/>
            <a:ext cx="25622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2341"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heterogeneous evidence · explicit provenance</a:t>
            </a:r>
          </a:p>
        </p:txBody>
      </p:sp>
      <p:sp>
        <p:nvSpPr>
          <p:cNvPr id="34" name="canonical-case">
            <a:extLst>
              <a:ext uri="{FF2B5EF4-FFF2-40B4-BE49-F238E27FC236}">
                <a16:creationId xmlns:a16="http://schemas.microsoft.com/office/drawing/2014/main" id="{D496F67D-890C-4175-BAA0-761B33D172FD}"/>
              </a:ext>
            </a:extLst>
          </p:cNvPr>
          <p:cNvSpPr>
            <a:spLocks noGrp="1"/>
          </p:cNvSpPr>
          <p:nvPr/>
        </p:nvSpPr>
        <p:spPr>
          <a:xfrm>
            <a:off x="3714750" y="866775"/>
            <a:ext cx="2247900" cy="3390900"/>
          </a:xfrm>
          <a:prstGeom prst="roundRect">
            <a:avLst>
              <a:gd name="adj" fmla="val 5085"/>
            </a:avLst>
          </a:prstGeom>
          <a:solidFill>
            <a:srgbClr val="EDFAF3"/>
          </a:solidFill>
          <a:ln w="17145">
            <a:solidFill>
              <a:srgbClr val="74B99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canonical-header">
            <a:extLst>
              <a:ext uri="{FF2B5EF4-FFF2-40B4-BE49-F238E27FC236}">
                <a16:creationId xmlns:a16="http://schemas.microsoft.com/office/drawing/2014/main" id="{5597B89D-EB9E-495E-A5AD-7EE9085FD46C}"/>
              </a:ext>
            </a:extLst>
          </p:cNvPr>
          <p:cNvSpPr>
            <a:spLocks noGrp="1"/>
          </p:cNvSpPr>
          <p:nvPr/>
        </p:nvSpPr>
        <p:spPr>
          <a:xfrm>
            <a:off x="3714750" y="866775"/>
            <a:ext cx="2247900" cy="400050"/>
          </a:xfrm>
          <a:prstGeom prst="roundRect">
            <a:avLst>
              <a:gd name="adj" fmla="val 28571"/>
            </a:avLst>
          </a:prstGeom>
          <a:solidFill>
            <a:srgbClr val="2F855A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canonical-title">
            <a:extLst>
              <a:ext uri="{FF2B5EF4-FFF2-40B4-BE49-F238E27FC236}">
                <a16:creationId xmlns:a16="http://schemas.microsoft.com/office/drawing/2014/main" id="{D14EDF68-1272-4013-BB07-413F5AE70700}"/>
              </a:ext>
            </a:extLst>
          </p:cNvPr>
          <p:cNvSpPr>
            <a:spLocks noGrp="1"/>
          </p:cNvSpPr>
          <p:nvPr/>
        </p:nvSpPr>
        <p:spPr>
          <a:xfrm>
            <a:off x="3867150" y="933450"/>
            <a:ext cx="1943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CanonicalCase</a:t>
            </a:r>
          </a:p>
        </p:txBody>
      </p:sp>
      <p:sp>
        <p:nvSpPr>
          <p:cNvPr id="37" name="clinical-label">
            <a:extLst>
              <a:ext uri="{FF2B5EF4-FFF2-40B4-BE49-F238E27FC236}">
                <a16:creationId xmlns:a16="http://schemas.microsoft.com/office/drawing/2014/main" id="{57383CEA-1C55-400E-8D5A-A4F3451D5E18}"/>
              </a:ext>
            </a:extLst>
          </p:cNvPr>
          <p:cNvSpPr>
            <a:spLocks noGrp="1"/>
          </p:cNvSpPr>
          <p:nvPr/>
        </p:nvSpPr>
        <p:spPr>
          <a:xfrm>
            <a:off x="3943350" y="14097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Clinical evidence</a:t>
            </a:r>
          </a:p>
        </p:txBody>
      </p:sp>
      <p:sp>
        <p:nvSpPr>
          <p:cNvPr id="38" name="clinical-line-1">
            <a:extLst>
              <a:ext uri="{FF2B5EF4-FFF2-40B4-BE49-F238E27FC236}">
                <a16:creationId xmlns:a16="http://schemas.microsoft.com/office/drawing/2014/main" id="{2BD1FF97-F0DB-41EB-8C6A-C77819D79869}"/>
              </a:ext>
            </a:extLst>
          </p:cNvPr>
          <p:cNvSpPr>
            <a:spLocks noGrp="1"/>
          </p:cNvSpPr>
          <p:nvPr/>
        </p:nvSpPr>
        <p:spPr>
          <a:xfrm>
            <a:off x="3943350" y="168592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Free text · HPO terms</a:t>
            </a:r>
          </a:p>
        </p:txBody>
      </p:sp>
      <p:sp>
        <p:nvSpPr>
          <p:cNvPr id="39" name="clinical-line-2">
            <a:extLst>
              <a:ext uri="{FF2B5EF4-FFF2-40B4-BE49-F238E27FC236}">
                <a16:creationId xmlns:a16="http://schemas.microsoft.com/office/drawing/2014/main" id="{82C55471-9586-4DD4-BB22-0610253B89EE}"/>
              </a:ext>
            </a:extLst>
          </p:cNvPr>
          <p:cNvSpPr>
            <a:spLocks noGrp="1"/>
          </p:cNvSpPr>
          <p:nvPr/>
        </p:nvSpPr>
        <p:spPr>
          <a:xfrm>
            <a:off x="3943350" y="191452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Variants · family data</a:t>
            </a:r>
          </a:p>
        </p:txBody>
      </p:sp>
      <p:sp>
        <p:nvSpPr>
          <p:cNvPr id="40" name="canonical-rule-1">
            <a:extLst>
              <a:ext uri="{FF2B5EF4-FFF2-40B4-BE49-F238E27FC236}">
                <a16:creationId xmlns:a16="http://schemas.microsoft.com/office/drawing/2014/main" id="{92F84754-9414-4101-AA95-29177BAE3915}"/>
              </a:ext>
            </a:extLst>
          </p:cNvPr>
          <p:cNvSpPr>
            <a:spLocks noGrp="1"/>
          </p:cNvSpPr>
          <p:nvPr/>
        </p:nvSpPr>
        <p:spPr>
          <a:xfrm>
            <a:off x="3943350" y="2228850"/>
            <a:ext cx="1790700" cy="0"/>
          </a:xfrm>
          <a:prstGeom prst="line">
            <a:avLst/>
          </a:prstGeom>
          <a:noFill/>
          <a:ln w="11430">
            <a:solidFill>
              <a:srgbClr val="74B99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gold-label">
            <a:extLst>
              <a:ext uri="{FF2B5EF4-FFF2-40B4-BE49-F238E27FC236}">
                <a16:creationId xmlns:a16="http://schemas.microsoft.com/office/drawing/2014/main" id="{6181BC78-A21F-4CA0-80E3-4708D28794F6}"/>
              </a:ext>
            </a:extLst>
          </p:cNvPr>
          <p:cNvSpPr>
            <a:spLocks noGrp="1"/>
          </p:cNvSpPr>
          <p:nvPr/>
        </p:nvSpPr>
        <p:spPr>
          <a:xfrm>
            <a:off x="3943350" y="2371725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Gold labels</a:t>
            </a:r>
          </a:p>
        </p:txBody>
      </p:sp>
      <p:sp>
        <p:nvSpPr>
          <p:cNvPr id="42" name="gold-line">
            <a:extLst>
              <a:ext uri="{FF2B5EF4-FFF2-40B4-BE49-F238E27FC236}">
                <a16:creationId xmlns:a16="http://schemas.microsoft.com/office/drawing/2014/main" id="{BD84AF1E-AED0-46BF-8F10-C222BBEC8A3D}"/>
              </a:ext>
            </a:extLst>
          </p:cNvPr>
          <p:cNvSpPr>
            <a:spLocks noGrp="1"/>
          </p:cNvSpPr>
          <p:nvPr/>
        </p:nvSpPr>
        <p:spPr>
          <a:xfrm>
            <a:off x="3943350" y="2667000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Disease IDs · gene IDs</a:t>
            </a:r>
          </a:p>
        </p:txBody>
      </p:sp>
      <p:sp>
        <p:nvSpPr>
          <p:cNvPr id="43" name="canonical-rule-2">
            <a:extLst>
              <a:ext uri="{FF2B5EF4-FFF2-40B4-BE49-F238E27FC236}">
                <a16:creationId xmlns:a16="http://schemas.microsoft.com/office/drawing/2014/main" id="{58803233-D4A9-48DA-9657-A8C479E65440}"/>
              </a:ext>
            </a:extLst>
          </p:cNvPr>
          <p:cNvSpPr>
            <a:spLocks noGrp="1"/>
          </p:cNvSpPr>
          <p:nvPr/>
        </p:nvSpPr>
        <p:spPr>
          <a:xfrm>
            <a:off x="3943350" y="2962275"/>
            <a:ext cx="1790700" cy="0"/>
          </a:xfrm>
          <a:prstGeom prst="line">
            <a:avLst/>
          </a:prstGeom>
          <a:noFill/>
          <a:ln w="11430">
            <a:solidFill>
              <a:srgbClr val="74B99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governance-label">
            <a:extLst>
              <a:ext uri="{FF2B5EF4-FFF2-40B4-BE49-F238E27FC236}">
                <a16:creationId xmlns:a16="http://schemas.microsoft.com/office/drawing/2014/main" id="{E9361467-624B-4FD3-8D9B-F23741902497}"/>
              </a:ext>
            </a:extLst>
          </p:cNvPr>
          <p:cNvSpPr>
            <a:spLocks noGrp="1"/>
          </p:cNvSpPr>
          <p:nvPr/>
        </p:nvSpPr>
        <p:spPr>
          <a:xfrm>
            <a:off x="3943350" y="31051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45" name="governance-line-1">
            <a:extLst>
              <a:ext uri="{FF2B5EF4-FFF2-40B4-BE49-F238E27FC236}">
                <a16:creationId xmlns:a16="http://schemas.microsoft.com/office/drawing/2014/main" id="{F524F905-7AF4-4EBE-87E2-2CC2DA147DC9}"/>
              </a:ext>
            </a:extLst>
          </p:cNvPr>
          <p:cNvSpPr>
            <a:spLocks noGrp="1"/>
          </p:cNvSpPr>
          <p:nvPr/>
        </p:nvSpPr>
        <p:spPr>
          <a:xfrm>
            <a:off x="3943350" y="340042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Source · provenance</a:t>
            </a:r>
          </a:p>
        </p:txBody>
      </p:sp>
      <p:sp>
        <p:nvSpPr>
          <p:cNvPr id="46" name="governance-line-2">
            <a:extLst>
              <a:ext uri="{FF2B5EF4-FFF2-40B4-BE49-F238E27FC236}">
                <a16:creationId xmlns:a16="http://schemas.microsoft.com/office/drawing/2014/main" id="{11A2DD1A-BB4E-41C1-9072-4FEE1DE30255}"/>
              </a:ext>
            </a:extLst>
          </p:cNvPr>
          <p:cNvSpPr>
            <a:spLocks noGrp="1"/>
          </p:cNvSpPr>
          <p:nvPr/>
        </p:nvSpPr>
        <p:spPr>
          <a:xfrm>
            <a:off x="3943350" y="362902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Availability masks</a:t>
            </a:r>
          </a:p>
        </p:txBody>
      </p:sp>
      <p:sp>
        <p:nvSpPr>
          <p:cNvPr id="47" name="governance-note">
            <a:extLst>
              <a:ext uri="{FF2B5EF4-FFF2-40B4-BE49-F238E27FC236}">
                <a16:creationId xmlns:a16="http://schemas.microsoft.com/office/drawing/2014/main" id="{D56C442F-BBDB-4631-818B-A6261902F9E4}"/>
              </a:ext>
            </a:extLst>
          </p:cNvPr>
          <p:cNvSpPr>
            <a:spLocks noGrp="1"/>
          </p:cNvSpPr>
          <p:nvPr/>
        </p:nvSpPr>
        <p:spPr>
          <a:xfrm>
            <a:off x="3943350" y="391477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73978"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Only permitted evidence is exposed</a:t>
            </a:r>
          </a:p>
        </p:txBody>
      </p:sp>
      <p:sp>
        <p:nvSpPr>
          <p:cNvPr id="48" name="pass-a">
            <a:extLst>
              <a:ext uri="{FF2B5EF4-FFF2-40B4-BE49-F238E27FC236}">
                <a16:creationId xmlns:a16="http://schemas.microsoft.com/office/drawing/2014/main" id="{967D9465-FC87-43CB-B35A-5C556AC87B80}"/>
              </a:ext>
            </a:extLst>
          </p:cNvPr>
          <p:cNvSpPr>
            <a:spLocks noGrp="1"/>
          </p:cNvSpPr>
          <p:nvPr/>
        </p:nvSpPr>
        <p:spPr>
          <a:xfrm>
            <a:off x="6438900" y="781050"/>
            <a:ext cx="2705100" cy="723900"/>
          </a:xfrm>
          <a:prstGeom prst="roundRect">
            <a:avLst>
              <a:gd name="adj" fmla="val 13158"/>
            </a:avLst>
          </a:prstGeom>
          <a:solidFill>
            <a:srgbClr val="FFF8E8"/>
          </a:solidFill>
          <a:ln w="14288">
            <a:solidFill>
              <a:srgbClr val="D9B65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pass-a-title">
            <a:extLst>
              <a:ext uri="{FF2B5EF4-FFF2-40B4-BE49-F238E27FC236}">
                <a16:creationId xmlns:a16="http://schemas.microsoft.com/office/drawing/2014/main" id="{BA33D30B-028B-4BC3-AD59-F127C67508A6}"/>
              </a:ext>
            </a:extLst>
          </p:cNvPr>
          <p:cNvSpPr>
            <a:spLocks noGrp="1"/>
          </p:cNvSpPr>
          <p:nvPr/>
        </p:nvSpPr>
        <p:spPr>
          <a:xfrm>
            <a:off x="6629400" y="876300"/>
            <a:ext cx="2324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Pass A  Gold HPO</a:t>
            </a:r>
          </a:p>
        </p:txBody>
      </p:sp>
      <p:sp>
        <p:nvSpPr>
          <p:cNvPr id="50" name="pass-a-body">
            <a:extLst>
              <a:ext uri="{FF2B5EF4-FFF2-40B4-BE49-F238E27FC236}">
                <a16:creationId xmlns:a16="http://schemas.microsoft.com/office/drawing/2014/main" id="{E81B25F2-D851-4022-AF65-609B84A65E1A}"/>
              </a:ext>
            </a:extLst>
          </p:cNvPr>
          <p:cNvSpPr>
            <a:spLocks noGrp="1"/>
          </p:cNvSpPr>
          <p:nvPr/>
        </p:nvSpPr>
        <p:spPr>
          <a:xfrm>
            <a:off x="6629400" y="11049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534"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P2/P3 diagnosis · isolates reasoning</a:t>
            </a:r>
          </a:p>
        </p:txBody>
      </p:sp>
      <p:sp>
        <p:nvSpPr>
          <p:cNvPr id="51" name="pass-b">
            <a:extLst>
              <a:ext uri="{FF2B5EF4-FFF2-40B4-BE49-F238E27FC236}">
                <a16:creationId xmlns:a16="http://schemas.microsoft.com/office/drawing/2014/main" id="{CDFFAEA1-3EA9-4D44-83AB-CA82C137EFE8}"/>
              </a:ext>
            </a:extLst>
          </p:cNvPr>
          <p:cNvSpPr>
            <a:spLocks noGrp="1"/>
          </p:cNvSpPr>
          <p:nvPr/>
        </p:nvSpPr>
        <p:spPr>
          <a:xfrm>
            <a:off x="6438900" y="1657350"/>
            <a:ext cx="2705100" cy="723900"/>
          </a:xfrm>
          <a:prstGeom prst="roundRect">
            <a:avLst>
              <a:gd name="adj" fmla="val 13158"/>
            </a:avLst>
          </a:prstGeom>
          <a:solidFill>
            <a:srgbClr val="FFF8E8"/>
          </a:solidFill>
          <a:ln w="14288">
            <a:solidFill>
              <a:srgbClr val="D9B65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pass-b-title">
            <a:extLst>
              <a:ext uri="{FF2B5EF4-FFF2-40B4-BE49-F238E27FC236}">
                <a16:creationId xmlns:a16="http://schemas.microsoft.com/office/drawing/2014/main" id="{85BDEE81-AAEF-44C0-9210-07493EDA3940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2324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Pass B  Source text</a:t>
            </a:r>
          </a:p>
        </p:txBody>
      </p:sp>
      <p:sp>
        <p:nvSpPr>
          <p:cNvPr id="53" name="pass-b-body">
            <a:extLst>
              <a:ext uri="{FF2B5EF4-FFF2-40B4-BE49-F238E27FC236}">
                <a16:creationId xmlns:a16="http://schemas.microsoft.com/office/drawing/2014/main" id="{63BB0862-9FD4-403B-8821-018D4F6C3922}"/>
              </a:ext>
            </a:extLst>
          </p:cNvPr>
          <p:cNvSpPr>
            <a:spLocks noGrp="1"/>
          </p:cNvSpPr>
          <p:nvPr/>
        </p:nvSpPr>
        <p:spPr>
          <a:xfrm>
            <a:off x="6629400" y="198120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P1 extraction → P2/P3 diagnosis</a:t>
            </a:r>
          </a:p>
        </p:txBody>
      </p:sp>
      <p:sp>
        <p:nvSpPr>
          <p:cNvPr id="54" name="variant-channel">
            <a:extLst>
              <a:ext uri="{FF2B5EF4-FFF2-40B4-BE49-F238E27FC236}">
                <a16:creationId xmlns:a16="http://schemas.microsoft.com/office/drawing/2014/main" id="{F310E4C7-9F63-4FC8-A9B7-8A99095AC9FB}"/>
              </a:ext>
            </a:extLst>
          </p:cNvPr>
          <p:cNvSpPr>
            <a:spLocks noGrp="1"/>
          </p:cNvSpPr>
          <p:nvPr/>
        </p:nvSpPr>
        <p:spPr>
          <a:xfrm>
            <a:off x="6438900" y="2533650"/>
            <a:ext cx="2705100" cy="647700"/>
          </a:xfrm>
          <a:prstGeom prst="roundRect">
            <a:avLst>
              <a:gd name="adj" fmla="val 14706"/>
            </a:avLst>
          </a:prstGeom>
          <a:solidFill>
            <a:srgbClr val="FFF8E8"/>
          </a:solidFill>
          <a:ln w="14288">
            <a:solidFill>
              <a:srgbClr val="D9B65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variant-channel-title">
            <a:extLst>
              <a:ext uri="{FF2B5EF4-FFF2-40B4-BE49-F238E27FC236}">
                <a16:creationId xmlns:a16="http://schemas.microsoft.com/office/drawing/2014/main" id="{03BE4D69-D5E0-4A76-B48A-FEE77906402D}"/>
              </a:ext>
            </a:extLst>
          </p:cNvPr>
          <p:cNvSpPr>
            <a:spLocks noGrp="1"/>
          </p:cNvSpPr>
          <p:nvPr/>
        </p:nvSpPr>
        <p:spPr>
          <a:xfrm>
            <a:off x="6629400" y="2628900"/>
            <a:ext cx="2324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Variant channel</a:t>
            </a:r>
          </a:p>
        </p:txBody>
      </p:sp>
      <p:sp>
        <p:nvSpPr>
          <p:cNvPr id="56" name="variant-channel-body">
            <a:extLst>
              <a:ext uri="{FF2B5EF4-FFF2-40B4-BE49-F238E27FC236}">
                <a16:creationId xmlns:a16="http://schemas.microsoft.com/office/drawing/2014/main" id="{5A0A7302-BF35-4E0C-BEB3-E9C0A73C31FF}"/>
              </a:ext>
            </a:extLst>
          </p:cNvPr>
          <p:cNvSpPr>
            <a:spLocks noGrp="1"/>
          </p:cNvSpPr>
          <p:nvPr/>
        </p:nvSpPr>
        <p:spPr>
          <a:xfrm>
            <a:off x="6629400" y="28575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HPO + variants → disease + gene</a:t>
            </a:r>
          </a:p>
        </p:txBody>
      </p:sp>
      <p:sp>
        <p:nvSpPr>
          <p:cNvPr id="57" name="trace-channel">
            <a:extLst>
              <a:ext uri="{FF2B5EF4-FFF2-40B4-BE49-F238E27FC236}">
                <a16:creationId xmlns:a16="http://schemas.microsoft.com/office/drawing/2014/main" id="{8CF7F794-8216-4ED3-808A-5EE235C7764A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2705100" cy="647700"/>
          </a:xfrm>
          <a:prstGeom prst="roundRect">
            <a:avLst>
              <a:gd name="adj" fmla="val 14706"/>
            </a:avLst>
          </a:prstGeom>
          <a:solidFill>
            <a:srgbClr val="FFF8E8"/>
          </a:solidFill>
          <a:ln w="14288">
            <a:solidFill>
              <a:srgbClr val="D9B65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race-channel-title">
            <a:extLst>
              <a:ext uri="{FF2B5EF4-FFF2-40B4-BE49-F238E27FC236}">
                <a16:creationId xmlns:a16="http://schemas.microsoft.com/office/drawing/2014/main" id="{6B581E41-1766-4355-BA19-232A20D5A72D}"/>
              </a:ext>
            </a:extLst>
          </p:cNvPr>
          <p:cNvSpPr>
            <a:spLocks noGrp="1"/>
          </p:cNvSpPr>
          <p:nvPr/>
        </p:nvSpPr>
        <p:spPr>
          <a:xfrm>
            <a:off x="6629400" y="3429000"/>
            <a:ext cx="2324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Trace channel</a:t>
            </a:r>
          </a:p>
        </p:txBody>
      </p:sp>
      <p:sp>
        <p:nvSpPr>
          <p:cNvPr id="59" name="trace-channel-body">
            <a:extLst>
              <a:ext uri="{FF2B5EF4-FFF2-40B4-BE49-F238E27FC236}">
                <a16:creationId xmlns:a16="http://schemas.microsoft.com/office/drawing/2014/main" id="{A846D8FC-AB80-4C10-902E-2252CBB7FCDC}"/>
              </a:ext>
            </a:extLst>
          </p:cNvPr>
          <p:cNvSpPr>
            <a:spLocks noGrp="1"/>
          </p:cNvSpPr>
          <p:nvPr/>
        </p:nvSpPr>
        <p:spPr>
          <a:xfrm>
            <a:off x="6629400" y="36576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491"/>
          </a:bodyPr>
          <a:lstStyle/>
          <a:p>
            <a:pPr algn="l">
              <a:defRPr sz="12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Response + trace → P5 faithfulness</a:t>
            </a:r>
          </a:p>
        </p:txBody>
      </p:sp>
      <p:sp>
        <p:nvSpPr>
          <p:cNvPr id="60" name="p4-deferred">
            <a:extLst>
              <a:ext uri="{FF2B5EF4-FFF2-40B4-BE49-F238E27FC236}">
                <a16:creationId xmlns:a16="http://schemas.microsoft.com/office/drawing/2014/main" id="{D0F08A86-9462-4A04-B2DA-BCFD58994593}"/>
              </a:ext>
            </a:extLst>
          </p:cNvPr>
          <p:cNvSpPr>
            <a:spLocks noGrp="1"/>
          </p:cNvSpPr>
          <p:nvPr/>
        </p:nvSpPr>
        <p:spPr>
          <a:xfrm>
            <a:off x="6438900" y="4133850"/>
            <a:ext cx="2705100" cy="533400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4288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61" name="p4-title">
            <a:extLst>
              <a:ext uri="{FF2B5EF4-FFF2-40B4-BE49-F238E27FC236}">
                <a16:creationId xmlns:a16="http://schemas.microsoft.com/office/drawing/2014/main" id="{862BC197-0232-48EB-885E-A871ED8C4955}"/>
              </a:ext>
            </a:extLst>
          </p:cNvPr>
          <p:cNvSpPr>
            <a:spLocks noGrp="1"/>
          </p:cNvSpPr>
          <p:nvPr/>
        </p:nvSpPr>
        <p:spPr>
          <a:xfrm>
            <a:off x="6629400" y="42672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P4 Family-aware · deferred</a:t>
            </a:r>
          </a:p>
        </p:txBody>
      </p:sp>
      <p:sp>
        <p:nvSpPr>
          <p:cNvPr id="62" name="evidence-mask">
            <a:extLst>
              <a:ext uri="{FF2B5EF4-FFF2-40B4-BE49-F238E27FC236}">
                <a16:creationId xmlns:a16="http://schemas.microsoft.com/office/drawing/2014/main" id="{65D2C1F5-E6A0-4EFA-99FA-BAA65685DDE6}"/>
              </a:ext>
            </a:extLst>
          </p:cNvPr>
          <p:cNvSpPr>
            <a:spLocks noGrp="1"/>
          </p:cNvSpPr>
          <p:nvPr/>
        </p:nvSpPr>
        <p:spPr>
          <a:xfrm>
            <a:off x="3714750" y="4476750"/>
            <a:ext cx="2247900" cy="438150"/>
          </a:xfrm>
          <a:prstGeom prst="roundRect">
            <a:avLst>
              <a:gd name="adj" fmla="val 50000"/>
            </a:avLst>
          </a:prstGeom>
          <a:solidFill>
            <a:srgbClr val="EDFAF3"/>
          </a:solidFill>
          <a:ln w="14288">
            <a:solidFill>
              <a:srgbClr val="74B99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evidence-mask-title">
            <a:extLst>
              <a:ext uri="{FF2B5EF4-FFF2-40B4-BE49-F238E27FC236}">
                <a16:creationId xmlns:a16="http://schemas.microsoft.com/office/drawing/2014/main" id="{EF5C9D96-63DD-46A2-91A4-AFA85C7C394F}"/>
              </a:ext>
            </a:extLst>
          </p:cNvPr>
          <p:cNvSpPr>
            <a:spLocks noGrp="1"/>
          </p:cNvSpPr>
          <p:nvPr/>
        </p:nvSpPr>
        <p:spPr>
          <a:xfrm>
            <a:off x="3905250" y="45529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Evidence mask</a:t>
            </a:r>
          </a:p>
        </p:txBody>
      </p:sp>
      <p:sp>
        <p:nvSpPr>
          <p:cNvPr id="64" name="anchor-pass-a">
            <a:extLst>
              <a:ext uri="{FF2B5EF4-FFF2-40B4-BE49-F238E27FC236}">
                <a16:creationId xmlns:a16="http://schemas.microsoft.com/office/drawing/2014/main" id="{307DF251-203A-4C71-9AC7-561B038BCDA0}"/>
              </a:ext>
            </a:extLst>
          </p:cNvPr>
          <p:cNvSpPr>
            <a:spLocks noGrp="1"/>
          </p:cNvSpPr>
          <p:nvPr/>
        </p:nvSpPr>
        <p:spPr>
          <a:xfrm>
            <a:off x="5924550" y="18097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anchor-pass-b">
            <a:extLst>
              <a:ext uri="{FF2B5EF4-FFF2-40B4-BE49-F238E27FC236}">
                <a16:creationId xmlns:a16="http://schemas.microsoft.com/office/drawing/2014/main" id="{8E6CE651-5147-4B93-B291-A6E2098A12C3}"/>
              </a:ext>
            </a:extLst>
          </p:cNvPr>
          <p:cNvSpPr>
            <a:spLocks noGrp="1"/>
          </p:cNvSpPr>
          <p:nvPr/>
        </p:nvSpPr>
        <p:spPr>
          <a:xfrm>
            <a:off x="5924550" y="2228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anchor-variant">
            <a:extLst>
              <a:ext uri="{FF2B5EF4-FFF2-40B4-BE49-F238E27FC236}">
                <a16:creationId xmlns:a16="http://schemas.microsoft.com/office/drawing/2014/main" id="{E92B3370-B693-4830-AD2B-4663D01D9877}"/>
              </a:ext>
            </a:extLst>
          </p:cNvPr>
          <p:cNvSpPr>
            <a:spLocks noGrp="1"/>
          </p:cNvSpPr>
          <p:nvPr/>
        </p:nvSpPr>
        <p:spPr>
          <a:xfrm>
            <a:off x="5924550" y="2724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anchor-trace">
            <a:extLst>
              <a:ext uri="{FF2B5EF4-FFF2-40B4-BE49-F238E27FC236}">
                <a16:creationId xmlns:a16="http://schemas.microsoft.com/office/drawing/2014/main" id="{81BB4A09-1341-4C64-91A0-7876E59BA680}"/>
              </a:ext>
            </a:extLst>
          </p:cNvPr>
          <p:cNvSpPr>
            <a:spLocks noGrp="1"/>
          </p:cNvSpPr>
          <p:nvPr/>
        </p:nvSpPr>
        <p:spPr>
          <a:xfrm>
            <a:off x="5924550" y="3457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cxnSp>
        <p:nvCxnSpPr>
          <p:cNvPr id="173" name="Elbow Connector 172"/>
          <p:cNvCxnSpPr>
            <a:stCxn id="48" idx="1"/>
            <a:endCxn id="64" idx="6"/>
          </p:cNvCxnSpPr>
          <p:nvPr/>
        </p:nvCxnSpPr>
        <p:spPr>
          <a:xfrm flipH="1">
            <a:off x="5943600" y="1143000"/>
            <a:ext cx="495300" cy="676275"/>
          </a:xfrm>
          <a:prstGeom prst="bentConnector3">
            <a:avLst>
              <a:gd name="adj1" fmla="val 50000"/>
            </a:avLst>
          </a:prstGeom>
          <a:ln w="15240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174" name="Elbow Connector 173"/>
          <p:cNvCxnSpPr>
            <a:stCxn id="51" idx="1"/>
            <a:endCxn id="65" idx="6"/>
          </p:cNvCxnSpPr>
          <p:nvPr/>
        </p:nvCxnSpPr>
        <p:spPr>
          <a:xfrm flipH="1">
            <a:off x="5943600" y="2019300"/>
            <a:ext cx="495300" cy="219075"/>
          </a:xfrm>
          <a:prstGeom prst="bentConnector3">
            <a:avLst>
              <a:gd name="adj1" fmla="val 50000"/>
            </a:avLst>
          </a:prstGeom>
          <a:ln w="15240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175" name="Elbow Connector 174"/>
          <p:cNvCxnSpPr>
            <a:stCxn id="54" idx="1"/>
            <a:endCxn id="66" idx="6"/>
          </p:cNvCxnSpPr>
          <p:nvPr/>
        </p:nvCxnSpPr>
        <p:spPr>
          <a:xfrm flipH="1" flipV="1">
            <a:off x="5943600" y="2733675"/>
            <a:ext cx="495300" cy="123825"/>
          </a:xfrm>
          <a:prstGeom prst="bentConnector3">
            <a:avLst>
              <a:gd name="adj1" fmla="val 50000"/>
            </a:avLst>
          </a:prstGeom>
          <a:ln w="15240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176" name="Elbow Connector 175"/>
          <p:cNvCxnSpPr>
            <a:stCxn id="57" idx="1"/>
            <a:endCxn id="67" idx="6"/>
          </p:cNvCxnSpPr>
          <p:nvPr/>
        </p:nvCxnSpPr>
        <p:spPr>
          <a:xfrm flipH="1" flipV="1">
            <a:off x="5943600" y="3467100"/>
            <a:ext cx="495300" cy="190500"/>
          </a:xfrm>
          <a:prstGeom prst="bentConnector3">
            <a:avLst>
              <a:gd name="adj1" fmla="val 50000"/>
            </a:avLst>
          </a:prstGeom>
          <a:ln w="15240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177" name="Elbow Connector 176"/>
          <p:cNvCxnSpPr>
            <a:stCxn id="60" idx="1"/>
            <a:endCxn id="62" idx="3"/>
          </p:cNvCxnSpPr>
          <p:nvPr/>
        </p:nvCxnSpPr>
        <p:spPr>
          <a:xfrm flipH="1">
            <a:off x="5962650" y="4400550"/>
            <a:ext cx="476250" cy="295275"/>
          </a:xfrm>
          <a:prstGeom prst="bentConnector3">
            <a:avLst>
              <a:gd name="adj1" fmla="val 50000"/>
            </a:avLst>
          </a:prstGeom>
          <a:ln w="14288">
            <a:solidFill>
              <a:srgbClr val="64748B"/>
            </a:solidFill>
            <a:prstDash val="dash"/>
            <a:headEnd type="arrow" w="sm" len="sm"/>
          </a:ln>
        </p:spPr>
      </p:cxnSp>
      <p:sp>
        <p:nvSpPr>
          <p:cNvPr id="73" name="classical">
            <a:extLst>
              <a:ext uri="{FF2B5EF4-FFF2-40B4-BE49-F238E27FC236}">
                <a16:creationId xmlns:a16="http://schemas.microsoft.com/office/drawing/2014/main" id="{B6B1DBA2-4B1A-472F-879B-666AC70D3F68}"/>
              </a:ext>
            </a:extLst>
          </p:cNvPr>
          <p:cNvSpPr>
            <a:spLocks noGrp="1"/>
          </p:cNvSpPr>
          <p:nvPr/>
        </p:nvSpPr>
        <p:spPr>
          <a:xfrm>
            <a:off x="9791700" y="781050"/>
            <a:ext cx="1028700" cy="666750"/>
          </a:xfrm>
          <a:prstGeom prst="roundRect">
            <a:avLst>
              <a:gd name="adj" fmla="val 14286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classical-title">
            <a:extLst>
              <a:ext uri="{FF2B5EF4-FFF2-40B4-BE49-F238E27FC236}">
                <a16:creationId xmlns:a16="http://schemas.microsoft.com/office/drawing/2014/main" id="{D093BCD1-2677-4C80-BA31-D2E26C08943D}"/>
              </a:ext>
            </a:extLst>
          </p:cNvPr>
          <p:cNvSpPr>
            <a:spLocks noGrp="1"/>
          </p:cNvSpPr>
          <p:nvPr/>
        </p:nvSpPr>
        <p:spPr>
          <a:xfrm>
            <a:off x="9906000" y="866775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Classical</a:t>
            </a:r>
          </a:p>
        </p:txBody>
      </p:sp>
      <p:sp>
        <p:nvSpPr>
          <p:cNvPr id="75" name="classical-small">
            <a:extLst>
              <a:ext uri="{FF2B5EF4-FFF2-40B4-BE49-F238E27FC236}">
                <a16:creationId xmlns:a16="http://schemas.microsoft.com/office/drawing/2014/main" id="{409619FD-590D-4984-94B7-FDB3392B2633}"/>
              </a:ext>
            </a:extLst>
          </p:cNvPr>
          <p:cNvSpPr>
            <a:spLocks noGrp="1"/>
          </p:cNvSpPr>
          <p:nvPr/>
        </p:nvSpPr>
        <p:spPr>
          <a:xfrm>
            <a:off x="9886950" y="11049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offline</a:t>
            </a:r>
          </a:p>
        </p:txBody>
      </p:sp>
      <p:sp>
        <p:nvSpPr>
          <p:cNvPr id="76" name="llm-control">
            <a:extLst>
              <a:ext uri="{FF2B5EF4-FFF2-40B4-BE49-F238E27FC236}">
                <a16:creationId xmlns:a16="http://schemas.microsoft.com/office/drawing/2014/main" id="{E533707E-D68A-4BF7-818F-5B5DF8A1D12E}"/>
              </a:ext>
            </a:extLst>
          </p:cNvPr>
          <p:cNvSpPr>
            <a:spLocks noGrp="1"/>
          </p:cNvSpPr>
          <p:nvPr/>
        </p:nvSpPr>
        <p:spPr>
          <a:xfrm>
            <a:off x="10944225" y="781050"/>
            <a:ext cx="1028700" cy="666750"/>
          </a:xfrm>
          <a:prstGeom prst="roundRect">
            <a:avLst>
              <a:gd name="adj" fmla="val 14286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7" name="llm-control-title">
            <a:extLst>
              <a:ext uri="{FF2B5EF4-FFF2-40B4-BE49-F238E27FC236}">
                <a16:creationId xmlns:a16="http://schemas.microsoft.com/office/drawing/2014/main" id="{2A9B0C6B-8BBC-4FFA-B4D5-EF9CC34804D1}"/>
              </a:ext>
            </a:extLst>
          </p:cNvPr>
          <p:cNvSpPr>
            <a:spLocks noGrp="1"/>
          </p:cNvSpPr>
          <p:nvPr/>
        </p:nvSpPr>
        <p:spPr>
          <a:xfrm>
            <a:off x="11058525" y="866775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78" name="llm-control-small">
            <a:extLst>
              <a:ext uri="{FF2B5EF4-FFF2-40B4-BE49-F238E27FC236}">
                <a16:creationId xmlns:a16="http://schemas.microsoft.com/office/drawing/2014/main" id="{9B7796AC-3CC4-40CA-BD32-654965B4CE26}"/>
              </a:ext>
            </a:extLst>
          </p:cNvPr>
          <p:cNvSpPr>
            <a:spLocks noGrp="1"/>
          </p:cNvSpPr>
          <p:nvPr/>
        </p:nvSpPr>
        <p:spPr>
          <a:xfrm>
            <a:off x="11039475" y="11049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79" name="scaffolded-agents">
            <a:extLst>
              <a:ext uri="{FF2B5EF4-FFF2-40B4-BE49-F238E27FC236}">
                <a16:creationId xmlns:a16="http://schemas.microsoft.com/office/drawing/2014/main" id="{794294AF-792B-4C49-AF05-04F9FD3B8DA8}"/>
              </a:ext>
            </a:extLst>
          </p:cNvPr>
          <p:cNvSpPr>
            <a:spLocks noGrp="1"/>
          </p:cNvSpPr>
          <p:nvPr/>
        </p:nvSpPr>
        <p:spPr>
          <a:xfrm>
            <a:off x="12096750" y="781050"/>
            <a:ext cx="1028700" cy="666750"/>
          </a:xfrm>
          <a:prstGeom prst="roundRect">
            <a:avLst>
              <a:gd name="adj" fmla="val 14286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scaffolded-agents-title">
            <a:extLst>
              <a:ext uri="{FF2B5EF4-FFF2-40B4-BE49-F238E27FC236}">
                <a16:creationId xmlns:a16="http://schemas.microsoft.com/office/drawing/2014/main" id="{732EBF44-9F75-4FF9-B626-FBBEB4297465}"/>
              </a:ext>
            </a:extLst>
          </p:cNvPr>
          <p:cNvSpPr>
            <a:spLocks noGrp="1"/>
          </p:cNvSpPr>
          <p:nvPr/>
        </p:nvSpPr>
        <p:spPr>
          <a:xfrm>
            <a:off x="12211050" y="866775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1681"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Scaffolded</a:t>
            </a:r>
          </a:p>
        </p:txBody>
      </p:sp>
      <p:sp>
        <p:nvSpPr>
          <p:cNvPr id="81" name="scaffolded-agents-small">
            <a:extLst>
              <a:ext uri="{FF2B5EF4-FFF2-40B4-BE49-F238E27FC236}">
                <a16:creationId xmlns:a16="http://schemas.microsoft.com/office/drawing/2014/main" id="{49013595-953C-4D0E-8015-CD52018C0D89}"/>
              </a:ext>
            </a:extLst>
          </p:cNvPr>
          <p:cNvSpPr>
            <a:spLocks noGrp="1"/>
          </p:cNvSpPr>
          <p:nvPr/>
        </p:nvSpPr>
        <p:spPr>
          <a:xfrm>
            <a:off x="12192000" y="11049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82" name="system-adapters">
            <a:extLst>
              <a:ext uri="{FF2B5EF4-FFF2-40B4-BE49-F238E27FC236}">
                <a16:creationId xmlns:a16="http://schemas.microsoft.com/office/drawing/2014/main" id="{46B50A59-D3DE-4DF6-9084-5FECF54E2BD6}"/>
              </a:ext>
            </a:extLst>
          </p:cNvPr>
          <p:cNvSpPr>
            <a:spLocks noGrp="1"/>
          </p:cNvSpPr>
          <p:nvPr/>
        </p:nvSpPr>
        <p:spPr>
          <a:xfrm>
            <a:off x="9953625" y="1819275"/>
            <a:ext cx="3009900" cy="762000"/>
          </a:xfrm>
          <a:prstGeom prst="roundRect">
            <a:avLst>
              <a:gd name="adj" fmla="val 12500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system-adapters-accent">
            <a:extLst>
              <a:ext uri="{FF2B5EF4-FFF2-40B4-BE49-F238E27FC236}">
                <a16:creationId xmlns:a16="http://schemas.microsoft.com/office/drawing/2014/main" id="{7AF9C24D-750D-467F-AD9B-A60B1F373004}"/>
              </a:ext>
            </a:extLst>
          </p:cNvPr>
          <p:cNvSpPr>
            <a:spLocks noGrp="1"/>
          </p:cNvSpPr>
          <p:nvPr/>
        </p:nvSpPr>
        <p:spPr>
          <a:xfrm>
            <a:off x="9953625" y="1819275"/>
            <a:ext cx="85725" cy="762000"/>
          </a:xfrm>
          <a:prstGeom prst="roundRect">
            <a:avLst>
              <a:gd name="adj" fmla="val 44444"/>
            </a:avLst>
          </a:prstGeom>
          <a:solidFill>
            <a:srgbClr val="6B46C1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4" name="system-adapters-title">
            <a:extLst>
              <a:ext uri="{FF2B5EF4-FFF2-40B4-BE49-F238E27FC236}">
                <a16:creationId xmlns:a16="http://schemas.microsoft.com/office/drawing/2014/main" id="{C5804D49-7401-45F8-A2DE-EA3FBF458C22}"/>
              </a:ext>
            </a:extLst>
          </p:cNvPr>
          <p:cNvSpPr>
            <a:spLocks noGrp="1"/>
          </p:cNvSpPr>
          <p:nvPr/>
        </p:nvSpPr>
        <p:spPr>
          <a:xfrm>
            <a:off x="10067925" y="1905000"/>
            <a:ext cx="2781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System-specific adapters</a:t>
            </a:r>
          </a:p>
        </p:txBody>
      </p:sp>
      <p:sp>
        <p:nvSpPr>
          <p:cNvPr id="85" name="system-adapters-small">
            <a:extLst>
              <a:ext uri="{FF2B5EF4-FFF2-40B4-BE49-F238E27FC236}">
                <a16:creationId xmlns:a16="http://schemas.microsoft.com/office/drawing/2014/main" id="{F2F86BC2-22D3-4B09-8957-EAE2756195E4}"/>
              </a:ext>
            </a:extLst>
          </p:cNvPr>
          <p:cNvSpPr>
            <a:spLocks noGrp="1"/>
          </p:cNvSpPr>
          <p:nvPr/>
        </p:nvSpPr>
        <p:spPr>
          <a:xfrm>
            <a:off x="10048875" y="2143125"/>
            <a:ext cx="28194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03"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same evidence · native scaffold preserved</a:t>
            </a:r>
          </a:p>
        </p:txBody>
      </p:sp>
      <p:sp>
        <p:nvSpPr>
          <p:cNvPr id="86" name="case-receipt">
            <a:extLst>
              <a:ext uri="{FF2B5EF4-FFF2-40B4-BE49-F238E27FC236}">
                <a16:creationId xmlns:a16="http://schemas.microsoft.com/office/drawing/2014/main" id="{AAC01566-59A7-47A3-A09F-8035BA015D3F}"/>
              </a:ext>
            </a:extLst>
          </p:cNvPr>
          <p:cNvSpPr>
            <a:spLocks noGrp="1"/>
          </p:cNvSpPr>
          <p:nvPr/>
        </p:nvSpPr>
        <p:spPr>
          <a:xfrm>
            <a:off x="9953625" y="2847975"/>
            <a:ext cx="3009900" cy="647700"/>
          </a:xfrm>
          <a:prstGeom prst="roundRect">
            <a:avLst>
              <a:gd name="adj" fmla="val 14706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7" name="case-receipt-title">
            <a:extLst>
              <a:ext uri="{FF2B5EF4-FFF2-40B4-BE49-F238E27FC236}">
                <a16:creationId xmlns:a16="http://schemas.microsoft.com/office/drawing/2014/main" id="{9928903A-1EA2-4F6A-AFDC-C7BA9EA599BE}"/>
              </a:ext>
            </a:extLst>
          </p:cNvPr>
          <p:cNvSpPr>
            <a:spLocks noGrp="1"/>
          </p:cNvSpPr>
          <p:nvPr/>
        </p:nvSpPr>
        <p:spPr>
          <a:xfrm>
            <a:off x="10067925" y="2933700"/>
            <a:ext cx="2781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Per-case receipt</a:t>
            </a:r>
          </a:p>
        </p:txBody>
      </p:sp>
      <p:sp>
        <p:nvSpPr>
          <p:cNvPr id="88" name="case-receipt-small">
            <a:extLst>
              <a:ext uri="{FF2B5EF4-FFF2-40B4-BE49-F238E27FC236}">
                <a16:creationId xmlns:a16="http://schemas.microsoft.com/office/drawing/2014/main" id="{5285CCB6-CA54-447C-B035-26B08DDD44A1}"/>
              </a:ext>
            </a:extLst>
          </p:cNvPr>
          <p:cNvSpPr>
            <a:spLocks noGrp="1"/>
          </p:cNvSpPr>
          <p:nvPr/>
        </p:nvSpPr>
        <p:spPr>
          <a:xfrm>
            <a:off x="10048875" y="3171825"/>
            <a:ext cx="2819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prediction · status · tokens · cost · latency</a:t>
            </a:r>
          </a:p>
        </p:txBody>
      </p:sp>
      <p:sp>
        <p:nvSpPr>
          <p:cNvPr id="89" name="metric-accuracy">
            <a:extLst>
              <a:ext uri="{FF2B5EF4-FFF2-40B4-BE49-F238E27FC236}">
                <a16:creationId xmlns:a16="http://schemas.microsoft.com/office/drawing/2014/main" id="{92A9527E-EC7D-437C-B17B-0CC598F5C29C}"/>
              </a:ext>
            </a:extLst>
          </p:cNvPr>
          <p:cNvSpPr>
            <a:spLocks noGrp="1"/>
          </p:cNvSpPr>
          <p:nvPr/>
        </p:nvSpPr>
        <p:spPr>
          <a:xfrm>
            <a:off x="9791700" y="3733800"/>
            <a:ext cx="1609725" cy="552450"/>
          </a:xfrm>
          <a:prstGeom prst="roundRect">
            <a:avLst>
              <a:gd name="adj" fmla="val 17241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0" name="metric-accuracy-title">
            <a:extLst>
              <a:ext uri="{FF2B5EF4-FFF2-40B4-BE49-F238E27FC236}">
                <a16:creationId xmlns:a16="http://schemas.microsoft.com/office/drawing/2014/main" id="{8295B8A6-4FB2-4DC9-9660-EC2193B9F97E}"/>
              </a:ext>
            </a:extLst>
          </p:cNvPr>
          <p:cNvSpPr>
            <a:spLocks noGrp="1"/>
          </p:cNvSpPr>
          <p:nvPr/>
        </p:nvSpPr>
        <p:spPr>
          <a:xfrm>
            <a:off x="9906000" y="381952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91" name="metric-accuracy-small">
            <a:extLst>
              <a:ext uri="{FF2B5EF4-FFF2-40B4-BE49-F238E27FC236}">
                <a16:creationId xmlns:a16="http://schemas.microsoft.com/office/drawing/2014/main" id="{8C104634-D30C-4C0B-B44D-1B059576A1FE}"/>
              </a:ext>
            </a:extLst>
          </p:cNvPr>
          <p:cNvSpPr>
            <a:spLocks noGrp="1"/>
          </p:cNvSpPr>
          <p:nvPr/>
        </p:nvSpPr>
        <p:spPr>
          <a:xfrm>
            <a:off x="9886950" y="4057650"/>
            <a:ext cx="1419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2972"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R@k · MRR · gene Top-k</a:t>
            </a:r>
          </a:p>
        </p:txBody>
      </p:sp>
      <p:sp>
        <p:nvSpPr>
          <p:cNvPr id="92" name="metric-reliability">
            <a:extLst>
              <a:ext uri="{FF2B5EF4-FFF2-40B4-BE49-F238E27FC236}">
                <a16:creationId xmlns:a16="http://schemas.microsoft.com/office/drawing/2014/main" id="{C3831CD1-8081-4751-B1C8-6F268D5DAF05}"/>
              </a:ext>
            </a:extLst>
          </p:cNvPr>
          <p:cNvSpPr>
            <a:spLocks noGrp="1"/>
          </p:cNvSpPr>
          <p:nvPr/>
        </p:nvSpPr>
        <p:spPr>
          <a:xfrm>
            <a:off x="11515725" y="3733800"/>
            <a:ext cx="1609725" cy="552450"/>
          </a:xfrm>
          <a:prstGeom prst="roundRect">
            <a:avLst>
              <a:gd name="adj" fmla="val 17241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3" name="metric-reliability-title">
            <a:extLst>
              <a:ext uri="{FF2B5EF4-FFF2-40B4-BE49-F238E27FC236}">
                <a16:creationId xmlns:a16="http://schemas.microsoft.com/office/drawing/2014/main" id="{B705EB1D-7F30-49A5-82EE-6D7278D456A5}"/>
              </a:ext>
            </a:extLst>
          </p:cNvPr>
          <p:cNvSpPr>
            <a:spLocks noGrp="1"/>
          </p:cNvSpPr>
          <p:nvPr/>
        </p:nvSpPr>
        <p:spPr>
          <a:xfrm>
            <a:off x="11630025" y="381952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94" name="metric-reliability-small">
            <a:extLst>
              <a:ext uri="{FF2B5EF4-FFF2-40B4-BE49-F238E27FC236}">
                <a16:creationId xmlns:a16="http://schemas.microsoft.com/office/drawing/2014/main" id="{AEEDD357-C6C0-4A2C-9A32-8CAA586B96BB}"/>
              </a:ext>
            </a:extLst>
          </p:cNvPr>
          <p:cNvSpPr>
            <a:spLocks noGrp="1"/>
          </p:cNvSpPr>
          <p:nvPr/>
        </p:nvSpPr>
        <p:spPr>
          <a:xfrm>
            <a:off x="11610975" y="4057650"/>
            <a:ext cx="1419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failures · pass^k</a:t>
            </a:r>
          </a:p>
        </p:txBody>
      </p:sp>
      <p:sp>
        <p:nvSpPr>
          <p:cNvPr id="95" name="metric-efficiency">
            <a:extLst>
              <a:ext uri="{FF2B5EF4-FFF2-40B4-BE49-F238E27FC236}">
                <a16:creationId xmlns:a16="http://schemas.microsoft.com/office/drawing/2014/main" id="{FFE892C2-8864-454D-9BAF-868822FE85D4}"/>
              </a:ext>
            </a:extLst>
          </p:cNvPr>
          <p:cNvSpPr>
            <a:spLocks noGrp="1"/>
          </p:cNvSpPr>
          <p:nvPr/>
        </p:nvSpPr>
        <p:spPr>
          <a:xfrm>
            <a:off x="9791700" y="4400550"/>
            <a:ext cx="1609725" cy="552450"/>
          </a:xfrm>
          <a:prstGeom prst="roundRect">
            <a:avLst>
              <a:gd name="adj" fmla="val 17241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6" name="metric-efficiency-title">
            <a:extLst>
              <a:ext uri="{FF2B5EF4-FFF2-40B4-BE49-F238E27FC236}">
                <a16:creationId xmlns:a16="http://schemas.microsoft.com/office/drawing/2014/main" id="{64336C67-C500-4E30-9D50-2EC61C40BC79}"/>
              </a:ext>
            </a:extLst>
          </p:cNvPr>
          <p:cNvSpPr>
            <a:spLocks noGrp="1"/>
          </p:cNvSpPr>
          <p:nvPr/>
        </p:nvSpPr>
        <p:spPr>
          <a:xfrm>
            <a:off x="9906000" y="448627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97" name="metric-efficiency-small">
            <a:extLst>
              <a:ext uri="{FF2B5EF4-FFF2-40B4-BE49-F238E27FC236}">
                <a16:creationId xmlns:a16="http://schemas.microsoft.com/office/drawing/2014/main" id="{DFC9C63D-6B3F-468E-8354-F396BED212AC}"/>
              </a:ext>
            </a:extLst>
          </p:cNvPr>
          <p:cNvSpPr>
            <a:spLocks noGrp="1"/>
          </p:cNvSpPr>
          <p:nvPr/>
        </p:nvSpPr>
        <p:spPr>
          <a:xfrm>
            <a:off x="9886950" y="4724400"/>
            <a:ext cx="1419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cost · latency</a:t>
            </a:r>
          </a:p>
        </p:txBody>
      </p:sp>
      <p:sp>
        <p:nvSpPr>
          <p:cNvPr id="98" name="metric-faithfulness">
            <a:extLst>
              <a:ext uri="{FF2B5EF4-FFF2-40B4-BE49-F238E27FC236}">
                <a16:creationId xmlns:a16="http://schemas.microsoft.com/office/drawing/2014/main" id="{CF4D23CD-A76F-4B04-A427-24571AE41AB1}"/>
              </a:ext>
            </a:extLst>
          </p:cNvPr>
          <p:cNvSpPr>
            <a:spLocks noGrp="1"/>
          </p:cNvSpPr>
          <p:nvPr/>
        </p:nvSpPr>
        <p:spPr>
          <a:xfrm>
            <a:off x="11515725" y="4400550"/>
            <a:ext cx="1609725" cy="552450"/>
          </a:xfrm>
          <a:prstGeom prst="roundRect">
            <a:avLst>
              <a:gd name="adj" fmla="val 17241"/>
            </a:avLst>
          </a:prstGeom>
          <a:solidFill>
            <a:srgbClr val="F4F0FF"/>
          </a:solidFill>
          <a:ln w="14288">
            <a:solidFill>
              <a:srgbClr val="A78BC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9" name="metric-faithfulness-title">
            <a:extLst>
              <a:ext uri="{FF2B5EF4-FFF2-40B4-BE49-F238E27FC236}">
                <a16:creationId xmlns:a16="http://schemas.microsoft.com/office/drawing/2014/main" id="{31BAB023-80C9-4571-B580-188BC9AA639F}"/>
              </a:ext>
            </a:extLst>
          </p:cNvPr>
          <p:cNvSpPr>
            <a:spLocks noGrp="1"/>
          </p:cNvSpPr>
          <p:nvPr/>
        </p:nvSpPr>
        <p:spPr>
          <a:xfrm>
            <a:off x="11630025" y="448627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Faithfulness</a:t>
            </a:r>
          </a:p>
        </p:txBody>
      </p:sp>
      <p:sp>
        <p:nvSpPr>
          <p:cNvPr id="100" name="metric-faithfulness-small">
            <a:extLst>
              <a:ext uri="{FF2B5EF4-FFF2-40B4-BE49-F238E27FC236}">
                <a16:creationId xmlns:a16="http://schemas.microsoft.com/office/drawing/2014/main" id="{88518ADC-21D4-4228-BC6F-0A65C236F87F}"/>
              </a:ext>
            </a:extLst>
          </p:cNvPr>
          <p:cNvSpPr>
            <a:spLocks noGrp="1"/>
          </p:cNvSpPr>
          <p:nvPr/>
        </p:nvSpPr>
        <p:spPr>
          <a:xfrm>
            <a:off x="11610975" y="4724400"/>
            <a:ext cx="1419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88978"/>
          </a:bodyPr>
          <a:lstStyle/>
          <a:p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response · trace quality</a:t>
            </a:r>
          </a:p>
        </p:txBody>
      </p:sp>
      <p:cxnSp>
        <p:nvCxnSpPr>
          <p:cNvPr id="206" name="Elbow Connector 205"/>
          <p:cNvCxnSpPr>
            <a:stCxn id="82" idx="0"/>
            <a:endCxn id="73" idx="2"/>
          </p:cNvCxnSpPr>
          <p:nvPr/>
        </p:nvCxnSpPr>
        <p:spPr>
          <a:xfrm flipH="1" flipV="1">
            <a:off x="10306050" y="1447800"/>
            <a:ext cx="1152525" cy="37147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207" name="Straight Arrow Connector 206"/>
          <p:cNvCxnSpPr>
            <a:stCxn id="82" idx="0"/>
            <a:endCxn id="76" idx="2"/>
          </p:cNvCxnSpPr>
          <p:nvPr/>
        </p:nvCxnSpPr>
        <p:spPr>
          <a:xfrm flipV="1">
            <a:off x="11458575" y="1447800"/>
            <a:ext cx="0" cy="371475"/>
          </a:xfrm>
          <a:prstGeom prst="straightConnector1">
            <a:avLst/>
          </a:prstGeom>
          <a:ln w="14288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208" name="Elbow Connector 207"/>
          <p:cNvCxnSpPr>
            <a:stCxn id="82" idx="0"/>
            <a:endCxn id="79" idx="2"/>
          </p:cNvCxnSpPr>
          <p:nvPr/>
        </p:nvCxnSpPr>
        <p:spPr>
          <a:xfrm flipV="1">
            <a:off x="11458575" y="1447800"/>
            <a:ext cx="1152525" cy="371475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4748B"/>
            </a:solidFill>
            <a:prstDash val="solid"/>
            <a:headEnd type="arrow" w="sm" len="sm"/>
          </a:ln>
        </p:spPr>
      </p:cxnSp>
      <p:cxnSp>
        <p:nvCxnSpPr>
          <p:cNvPr id="209" name="Straight Arrow Connector 208"/>
          <p:cNvCxnSpPr>
            <a:stCxn id="86" idx="0"/>
            <a:endCxn id="82" idx="2"/>
          </p:cNvCxnSpPr>
          <p:nvPr/>
        </p:nvCxnSpPr>
        <p:spPr>
          <a:xfrm flipV="1">
            <a:off x="11458575" y="2581275"/>
            <a:ext cx="0" cy="266700"/>
          </a:xfrm>
          <a:prstGeom prst="straightConnector1">
            <a:avLst/>
          </a:prstGeom>
          <a:ln w="15240">
            <a:solidFill>
              <a:srgbClr val="64748B"/>
            </a:solidFill>
            <a:prstDash val="solid"/>
            <a:headEnd type="arrow" w="sm" len="sm"/>
          </a:ln>
        </p:spPr>
      </p:cxnSp>
      <p:sp>
        <p:nvSpPr>
          <p:cNvPr id="105" name="receipt-to-metrics">
            <a:extLst>
              <a:ext uri="{FF2B5EF4-FFF2-40B4-BE49-F238E27FC236}">
                <a16:creationId xmlns:a16="http://schemas.microsoft.com/office/drawing/2014/main" id="{87C0188C-D31D-46FD-B383-42FE2147E6B1}"/>
              </a:ext>
            </a:extLst>
          </p:cNvPr>
          <p:cNvSpPr>
            <a:spLocks noGrp="1"/>
          </p:cNvSpPr>
          <p:nvPr/>
        </p:nvSpPr>
        <p:spPr>
          <a:xfrm>
            <a:off x="11382375" y="3533775"/>
            <a:ext cx="152400" cy="161925"/>
          </a:xfrm>
          <a:prstGeom prst="downArrow">
            <a:avLst/>
          </a:prstGeom>
          <a:solidFill>
            <a:srgbClr val="64748B"/>
          </a:solidFill>
          <a:ln w="0">
            <a:noFill/>
            <a:prstDash val="solid"/>
          </a:ln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739111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Macintosh PowerPoint</Application>
  <DocSecurity>0</DocSecurity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T180121</cp:lastModifiedBy>
  <cp:revision>1</cp:revision>
  <dcterms:created xsi:type="dcterms:W3CDTF">2026-07-23T11:06:20Z</dcterms:created>
  <dcterms:modified xsi:type="dcterms:W3CDTF">2026-07-25T02:30:42Z</dcterms:modified>
</cp:coreProperties>
</file>