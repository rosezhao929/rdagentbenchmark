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334999" cy="786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47141" y="592968"/>
            <a:ext cx="2542032" cy="360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43" b="1" i="0">
                <a:solidFill>
                  <a:srgbClr val="0072B2"/>
                </a:solidFill>
                <a:latin typeface="Arial"/>
              </a:rPr>
              <a:t>Data 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7141" y="1268332"/>
            <a:ext cx="2542032" cy="1110598"/>
          </a:xfrm>
          <a:prstGeom prst="roundRect">
            <a:avLst>
              <a:gd name="adj" fmla="val 12000"/>
            </a:avLst>
          </a:prstGeom>
          <a:solidFill>
            <a:srgbClr val="DEEDF5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1533" y="1418413"/>
            <a:ext cx="2351379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57" b="1" i="0">
                <a:solidFill>
                  <a:srgbClr val="0072B2"/>
                </a:solidFill>
                <a:latin typeface="Arial"/>
              </a:rPr>
              <a:t>L1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1533" y="1718575"/>
            <a:ext cx="2351379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4" b="0" i="0">
                <a:solidFill>
                  <a:srgbClr val="111111"/>
                </a:solidFill>
                <a:latin typeface="Arial"/>
              </a:rPr>
              <a:t>Phenopacket-Store + RareBench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1533" y="2018736"/>
            <a:ext cx="2351379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8" b="0" i="1">
                <a:solidFill>
                  <a:srgbClr val="5A6B78"/>
                </a:solidFill>
                <a:latin typeface="Arial"/>
              </a:rPr>
              <a:t>11,173 · HPO, gold, variants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141" y="2619060"/>
            <a:ext cx="2542032" cy="1110598"/>
          </a:xfrm>
          <a:prstGeom prst="roundRect">
            <a:avLst>
              <a:gd name="adj" fmla="val 12000"/>
            </a:avLst>
          </a:prstGeom>
          <a:solidFill>
            <a:srgbClr val="DEEDF5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1533" y="2769141"/>
            <a:ext cx="2351379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57" b="1" i="0">
                <a:solidFill>
                  <a:srgbClr val="0072B2"/>
                </a:solidFill>
                <a:latin typeface="Arial"/>
              </a:rPr>
              <a:t>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533" y="3069302"/>
            <a:ext cx="2351379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4" b="0" i="0">
                <a:solidFill>
                  <a:srgbClr val="111111"/>
                </a:solidFill>
                <a:latin typeface="Arial"/>
              </a:rPr>
              <a:t>MIMIC-IV discharge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1533" y="3369464"/>
            <a:ext cx="2351379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8" b="0" i="1">
                <a:solidFill>
                  <a:srgbClr val="5A6B78"/>
                </a:solidFill>
                <a:latin typeface="Arial"/>
              </a:rPr>
              <a:t>416 · de-leaked (§6.2)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7141" y="3969788"/>
            <a:ext cx="2542032" cy="1110598"/>
          </a:xfrm>
          <a:prstGeom prst="roundRect">
            <a:avLst>
              <a:gd name="adj" fmla="val 12000"/>
            </a:avLst>
          </a:prstGeom>
          <a:solidFill>
            <a:srgbClr val="DEEDF5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1533" y="4119868"/>
            <a:ext cx="2351379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57" b="1" i="0">
                <a:solidFill>
                  <a:srgbClr val="0072B2"/>
                </a:solidFill>
                <a:latin typeface="Arial"/>
              </a:rPr>
              <a:t>L3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533" y="4420030"/>
            <a:ext cx="2351379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4" b="0" i="0">
                <a:solidFill>
                  <a:srgbClr val="111111"/>
                </a:solidFill>
                <a:latin typeface="Arial"/>
              </a:rPr>
              <a:t>RareArena 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1533" y="4720192"/>
            <a:ext cx="2351379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8" b="0" i="1">
                <a:solidFill>
                  <a:srgbClr val="5A6B78"/>
                </a:solidFill>
                <a:latin typeface="Arial"/>
              </a:rPr>
              <a:t>72,661 · free-text vignette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" y="5320515"/>
            <a:ext cx="2542032" cy="1110598"/>
          </a:xfrm>
          <a:prstGeom prst="roundRect">
            <a:avLst>
              <a:gd name="adj" fmla="val 12000"/>
            </a:avLst>
          </a:prstGeom>
          <a:solidFill>
            <a:srgbClr val="DEEDF5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61533" y="5470596"/>
            <a:ext cx="2351379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57" b="1" i="0">
                <a:solidFill>
                  <a:srgbClr val="0072B2"/>
                </a:solidFill>
                <a:latin typeface="Arial"/>
              </a:rPr>
              <a:t>L4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533" y="5770758"/>
            <a:ext cx="2351379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4" b="0" i="0">
                <a:solidFill>
                  <a:srgbClr val="111111"/>
                </a:solidFill>
                <a:latin typeface="Arial"/>
              </a:rPr>
              <a:t>PMC-OA holdout ≥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533" y="6070920"/>
            <a:ext cx="2351379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8" b="0" i="1">
                <a:solidFill>
                  <a:srgbClr val="5A6B78"/>
                </a:solidFill>
                <a:latin typeface="Arial"/>
              </a:rPr>
              <a:t>198 · post-cutoff, verified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7580" y="592968"/>
            <a:ext cx="1715871" cy="360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43" b="1" i="0">
                <a:solidFill>
                  <a:srgbClr val="333333"/>
                </a:solidFill>
                <a:latin typeface="Arial"/>
              </a:rPr>
              <a:t>Unified contract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7580" y="2303890"/>
            <a:ext cx="1715871" cy="3301779"/>
          </a:xfrm>
          <a:prstGeom prst="roundRect">
            <a:avLst>
              <a:gd name="adj" fmla="val 12000"/>
            </a:avLst>
          </a:prstGeom>
          <a:solidFill>
            <a:srgbClr val="FBFBFB"/>
          </a:solidFill>
          <a:ln w="177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497580" y="2514003"/>
            <a:ext cx="1715871" cy="300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37" b="1" i="0">
                <a:solidFill>
                  <a:srgbClr val="111111"/>
                </a:solidFill>
                <a:latin typeface="Arial"/>
              </a:rPr>
              <a:t>CanonicalCase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7580" y="2844181"/>
            <a:ext cx="1715871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1" b="0" i="1">
                <a:solidFill>
                  <a:srgbClr val="666666"/>
                </a:solidFill>
                <a:latin typeface="Arial"/>
              </a:rPr>
              <a:t>Pydantic-v2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4681" y="3159351"/>
            <a:ext cx="1537929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8" b="0" i="0">
                <a:solidFill>
                  <a:srgbClr val="222222"/>
                </a:solidFill>
                <a:latin typeface="Courier New"/>
              </a:rPr>
              <a:t>identity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4681" y="3444505"/>
            <a:ext cx="1537929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8" b="0" i="0">
                <a:solidFill>
                  <a:srgbClr val="222222"/>
                </a:solidFill>
                <a:latin typeface="Courier New"/>
              </a:rPr>
              <a:t>demographics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4681" y="3729658"/>
            <a:ext cx="1537929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8" b="0" i="0">
                <a:solidFill>
                  <a:srgbClr val="222222"/>
                </a:solidFill>
                <a:latin typeface="Courier New"/>
              </a:rPr>
              <a:t>free_text 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4681" y="4014812"/>
            <a:ext cx="1537929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8" b="0" i="0">
                <a:solidFill>
                  <a:srgbClr val="222222"/>
                </a:solidFill>
                <a:latin typeface="Courier New"/>
              </a:rPr>
              <a:t>  synthetic vignette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4681" y="4299965"/>
            <a:ext cx="1537929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8" b="0" i="0">
                <a:solidFill>
                  <a:srgbClr val="222222"/>
                </a:solidFill>
                <a:latin typeface="Courier New"/>
              </a:rPr>
              <a:t>gold_hpo_terms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4681" y="4585119"/>
            <a:ext cx="1537929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8" b="0" i="0">
                <a:solidFill>
                  <a:srgbClr val="222222"/>
                </a:solidFill>
                <a:latin typeface="Courier New"/>
              </a:rPr>
              <a:t>variants · vcf_path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24681" y="4870273"/>
            <a:ext cx="1537929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8" b="0" i="0">
                <a:solidFill>
                  <a:srgbClr val="222222"/>
                </a:solidFill>
                <a:latin typeface="Courier New"/>
              </a:rPr>
              <a:t>family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24681" y="5155426"/>
            <a:ext cx="1537929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8" b="0" i="0">
                <a:solidFill>
                  <a:srgbClr val="222222"/>
                </a:solidFill>
                <a:latin typeface="Courier New"/>
              </a:rPr>
              <a:t>gold_label (parallel ID)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989173" y="1823631"/>
            <a:ext cx="508407" cy="2131149"/>
          </a:xfrm>
          <a:prstGeom prst="line">
            <a:avLst/>
          </a:prstGeom>
          <a:ln w="13970">
            <a:solidFill>
              <a:srgbClr val="0072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89173" y="3174359"/>
            <a:ext cx="508407" cy="780421"/>
          </a:xfrm>
          <a:prstGeom prst="line">
            <a:avLst/>
          </a:prstGeom>
          <a:ln w="13970">
            <a:solidFill>
              <a:srgbClr val="0072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989173" y="3954780"/>
            <a:ext cx="508407" cy="570307"/>
          </a:xfrm>
          <a:prstGeom prst="line">
            <a:avLst/>
          </a:prstGeom>
          <a:ln w="13970">
            <a:solidFill>
              <a:srgbClr val="0072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989173" y="3954780"/>
            <a:ext cx="508407" cy="1921035"/>
          </a:xfrm>
          <a:prstGeom prst="line">
            <a:avLst/>
          </a:prstGeom>
          <a:ln w="13970">
            <a:solidFill>
              <a:srgbClr val="0072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31205" y="592968"/>
            <a:ext cx="1652320" cy="360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43" b="1" i="0">
                <a:solidFill>
                  <a:srgbClr val="E69F00"/>
                </a:solidFill>
                <a:latin typeface="Arial"/>
              </a:rPr>
              <a:t>Agent adapters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31205" y="2303890"/>
            <a:ext cx="1652320" cy="3301779"/>
          </a:xfrm>
          <a:prstGeom prst="roundRect">
            <a:avLst>
              <a:gd name="adj" fmla="val 12000"/>
            </a:avLst>
          </a:prstGeom>
          <a:solidFill>
            <a:srgbClr val="FCF3DE"/>
          </a:solidFill>
          <a:ln w="1143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531205" y="2483987"/>
            <a:ext cx="1652320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50" b="1" i="0">
                <a:solidFill>
                  <a:srgbClr val="8A5A00"/>
                </a:solidFill>
                <a:latin typeface="Arial"/>
              </a:rPr>
              <a:t>11 systems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1205" y="2859189"/>
            <a:ext cx="1652320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1" b="0" i="0">
                <a:solidFill>
                  <a:srgbClr val="222222"/>
                </a:solidFill>
                <a:latin typeface="Arial"/>
              </a:rPr>
              <a:t>DeepRare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1205" y="3136839"/>
            <a:ext cx="1652320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1" b="0" i="0">
                <a:solidFill>
                  <a:srgbClr val="222222"/>
                </a:solidFill>
                <a:latin typeface="Arial"/>
              </a:rPr>
              <a:t>MDAgents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1205" y="3414488"/>
            <a:ext cx="1652320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1" b="0" i="0">
                <a:solidFill>
                  <a:srgbClr val="222222"/>
                </a:solidFill>
                <a:latin typeface="Arial"/>
              </a:rPr>
              <a:t>MedAgents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1205" y="3692138"/>
            <a:ext cx="1652320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1" b="0" i="0">
                <a:solidFill>
                  <a:srgbClr val="222222"/>
                </a:solidFill>
                <a:latin typeface="Arial"/>
              </a:rPr>
              <a:t>AgentClinic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1205" y="3969788"/>
            <a:ext cx="1652320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1" b="0" i="0">
                <a:solidFill>
                  <a:srgbClr val="222222"/>
                </a:solidFill>
                <a:latin typeface="Arial"/>
              </a:rPr>
              <a:t>MAI-DxO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31205" y="4247437"/>
            <a:ext cx="1652320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1" b="0" i="0">
                <a:solidFill>
                  <a:srgbClr val="222222"/>
                </a:solidFill>
                <a:latin typeface="Arial"/>
              </a:rPr>
              <a:t>RDMA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1205" y="4525087"/>
            <a:ext cx="1652320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1" b="0" i="0">
                <a:solidFill>
                  <a:srgbClr val="222222"/>
                </a:solidFill>
                <a:latin typeface="Arial"/>
              </a:rPr>
              <a:t>VC-RDAgent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1205" y="4802736"/>
            <a:ext cx="1652320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1" b="0" i="0">
                <a:solidFill>
                  <a:srgbClr val="222222"/>
                </a:solidFill>
                <a:latin typeface="Arial"/>
              </a:rPr>
              <a:t>LIRICAL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1205" y="5080386"/>
            <a:ext cx="1652320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1" b="1" i="0">
                <a:solidFill>
                  <a:srgbClr val="222222"/>
                </a:solidFill>
                <a:latin typeface="Arial"/>
              </a:rPr>
              <a:t>+3 LLM controls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1205" y="5395556"/>
            <a:ext cx="1652320" cy="2401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4" b="0" i="1">
                <a:solidFill>
                  <a:srgbClr val="8A5A00"/>
                </a:solidFill>
                <a:latin typeface="Arial"/>
              </a:rPr>
              <a:t>subprocess isolation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213451" y="3954780"/>
            <a:ext cx="317754" cy="0"/>
          </a:xfrm>
          <a:prstGeom prst="line">
            <a:avLst/>
          </a:prstGeom>
          <a:ln w="2032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501280" y="592968"/>
            <a:ext cx="1906524" cy="360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43" b="1" i="0">
                <a:solidFill>
                  <a:srgbClr val="009E73"/>
                </a:solidFill>
                <a:latin typeface="Arial"/>
              </a:rPr>
              <a:t>Dual-pass eval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01280" y="2378930"/>
            <a:ext cx="1906524" cy="1350727"/>
          </a:xfrm>
          <a:prstGeom prst="roundRect">
            <a:avLst>
              <a:gd name="adj" fmla="val 12000"/>
            </a:avLst>
          </a:prstGeom>
          <a:solidFill>
            <a:srgbClr val="D6EFE9"/>
          </a:solidFill>
          <a:ln w="1143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501280" y="2544019"/>
            <a:ext cx="1906524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70" b="1" i="0">
                <a:solidFill>
                  <a:srgbClr val="00694D"/>
                </a:solidFill>
                <a:latin typeface="Arial"/>
              </a:rPr>
              <a:t>Pass A · gold HPO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01280" y="2904213"/>
            <a:ext cx="1906524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1" b="0" i="0">
                <a:solidFill>
                  <a:srgbClr val="111111"/>
                </a:solidFill>
                <a:latin typeface="Arial"/>
              </a:rPr>
              <a:t>curated HPO → downstream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01280" y="3219383"/>
            <a:ext cx="1906524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98" b="0" i="1">
                <a:solidFill>
                  <a:srgbClr val="00694D"/>
                </a:solidFill>
                <a:latin typeface="Arial"/>
              </a:rPr>
              <a:t>isolates capability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01280" y="4104860"/>
            <a:ext cx="1906524" cy="1350727"/>
          </a:xfrm>
          <a:prstGeom prst="roundRect">
            <a:avLst>
              <a:gd name="adj" fmla="val 12000"/>
            </a:avLst>
          </a:prstGeom>
          <a:solidFill>
            <a:srgbClr val="D6EFE9"/>
          </a:solidFill>
          <a:ln w="1143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501280" y="4269949"/>
            <a:ext cx="1906524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70" b="1" i="0">
                <a:solidFill>
                  <a:srgbClr val="00694D"/>
                </a:solidFill>
                <a:latin typeface="Arial"/>
              </a:rPr>
              <a:t>Pass B · end-to-end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01280" y="4630143"/>
            <a:ext cx="1906524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1" b="0" i="0">
                <a:solidFill>
                  <a:srgbClr val="111111"/>
                </a:solidFill>
                <a:latin typeface="Arial"/>
              </a:rPr>
              <a:t>free text → agent extracts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01280" y="4945313"/>
            <a:ext cx="1906524" cy="270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98" b="0" i="1">
                <a:solidFill>
                  <a:srgbClr val="00694D"/>
                </a:solidFill>
                <a:latin typeface="Arial"/>
              </a:rPr>
              <a:t>deployment performance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7183526" y="3054294"/>
            <a:ext cx="317754" cy="450243"/>
          </a:xfrm>
          <a:prstGeom prst="line">
            <a:avLst/>
          </a:prstGeom>
          <a:ln w="17780">
            <a:solidFill>
              <a:srgbClr val="E69F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183526" y="4405022"/>
            <a:ext cx="317754" cy="375202"/>
          </a:xfrm>
          <a:prstGeom prst="line">
            <a:avLst/>
          </a:prstGeom>
          <a:ln w="17780">
            <a:solidFill>
              <a:srgbClr val="E69F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454542" y="3744666"/>
            <a:ext cx="0" cy="345186"/>
          </a:xfrm>
          <a:prstGeom prst="line">
            <a:avLst/>
          </a:prstGeom>
          <a:ln w="16510">
            <a:solidFill>
              <a:srgbClr val="D14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458645" y="3594585"/>
            <a:ext cx="1143914" cy="690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98" b="1" i="0">
                <a:solidFill>
                  <a:srgbClr val="D1495B"/>
                </a:solidFill>
                <a:latin typeface="Arial"/>
              </a:rPr>
              <a:t>A−B</a:t>
            </a:r>
          </a:p>
          <a:p>
            <a:pPr algn="l">
              <a:lnSpc>
                <a:spcPct val="95000"/>
              </a:lnSpc>
            </a:pPr>
            <a:r>
              <a:rPr sz="1398" b="1" i="0">
                <a:solidFill>
                  <a:srgbClr val="D1495B"/>
                </a:solidFill>
                <a:latin typeface="Arial"/>
              </a:rPr>
              <a:t>= P1</a:t>
            </a:r>
          </a:p>
          <a:p>
            <a:pPr algn="l">
              <a:lnSpc>
                <a:spcPct val="95000"/>
              </a:lnSpc>
            </a:pPr>
            <a:r>
              <a:rPr sz="1398" b="1" i="0">
                <a:solidFill>
                  <a:srgbClr val="D1495B"/>
                </a:solidFill>
                <a:latin typeface="Arial"/>
              </a:rPr>
              <a:t>sensitivity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43312" y="592968"/>
            <a:ext cx="1652320" cy="360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43" b="1" i="0">
                <a:solidFill>
                  <a:srgbClr val="CC79A7"/>
                </a:solidFill>
                <a:latin typeface="Arial"/>
              </a:rPr>
              <a:t>Five pillars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043312" y="1868655"/>
            <a:ext cx="1652320" cy="585315"/>
          </a:xfrm>
          <a:prstGeom prst="roundRect">
            <a:avLst>
              <a:gd name="adj" fmla="val 12000"/>
            </a:avLst>
          </a:prstGeom>
          <a:solidFill>
            <a:srgbClr val="F5E4ED"/>
          </a:solidFill>
          <a:ln w="11430">
            <a:solidFill>
              <a:srgbClr val="CC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0144993" y="1973712"/>
            <a:ext cx="1499798" cy="2401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70" b="1" i="0">
                <a:solidFill>
                  <a:srgbClr val="9C4F78"/>
                </a:solidFill>
                <a:latin typeface="Arial"/>
              </a:rPr>
              <a:t>P1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44993" y="2243858"/>
            <a:ext cx="1499798" cy="2401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8" b="0" i="0">
                <a:solidFill>
                  <a:srgbClr val="333333"/>
                </a:solidFill>
                <a:latin typeface="Arial"/>
              </a:rPr>
              <a:t>Phenotype extraction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043312" y="2589044"/>
            <a:ext cx="1652320" cy="585315"/>
          </a:xfrm>
          <a:prstGeom prst="roundRect">
            <a:avLst>
              <a:gd name="adj" fmla="val 12000"/>
            </a:avLst>
          </a:prstGeom>
          <a:solidFill>
            <a:srgbClr val="F5E4ED"/>
          </a:solidFill>
          <a:ln w="11430">
            <a:solidFill>
              <a:srgbClr val="CC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10144993" y="2694100"/>
            <a:ext cx="1499798" cy="2401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70" b="1" i="0">
                <a:solidFill>
                  <a:srgbClr val="9C4F78"/>
                </a:solidFill>
                <a:latin typeface="Arial"/>
              </a:rPr>
              <a:t>P2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4993" y="2964246"/>
            <a:ext cx="1499798" cy="2401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8" b="0" i="0">
                <a:solidFill>
                  <a:srgbClr val="333333"/>
                </a:solidFill>
                <a:latin typeface="Arial"/>
              </a:rPr>
              <a:t>Phenotype-only DDx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043312" y="3309432"/>
            <a:ext cx="1652320" cy="585315"/>
          </a:xfrm>
          <a:prstGeom prst="roundRect">
            <a:avLst>
              <a:gd name="adj" fmla="val 12000"/>
            </a:avLst>
          </a:prstGeom>
          <a:solidFill>
            <a:srgbClr val="F5E4ED"/>
          </a:solidFill>
          <a:ln w="11430">
            <a:solidFill>
              <a:srgbClr val="CC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0144993" y="3414488"/>
            <a:ext cx="1499798" cy="2401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70" b="1" i="0">
                <a:solidFill>
                  <a:srgbClr val="9C4F78"/>
                </a:solidFill>
                <a:latin typeface="Arial"/>
              </a:rPr>
              <a:t>P3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44993" y="3684634"/>
            <a:ext cx="1499798" cy="2401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8" b="0" i="0">
                <a:solidFill>
                  <a:srgbClr val="333333"/>
                </a:solidFill>
                <a:latin typeface="Arial"/>
              </a:rPr>
              <a:t>Genotype-aware DDx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043312" y="4029820"/>
            <a:ext cx="1652320" cy="585315"/>
          </a:xfrm>
          <a:prstGeom prst="roundRect">
            <a:avLst>
              <a:gd name="adj" fmla="val 12000"/>
            </a:avLst>
          </a:prstGeom>
          <a:solidFill>
            <a:srgbClr val="FAF2F6"/>
          </a:solidFill>
          <a:ln w="11430">
            <a:solidFill>
              <a:srgbClr val="CC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10144993" y="4134877"/>
            <a:ext cx="1499798" cy="2401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70" b="1" i="0">
                <a:solidFill>
                  <a:srgbClr val="BB97AC"/>
                </a:solidFill>
                <a:latin typeface="Arial"/>
              </a:rPr>
              <a:t>P4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44993" y="4405022"/>
            <a:ext cx="1499798" cy="2401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8" b="0" i="1">
                <a:solidFill>
                  <a:srgbClr val="999999"/>
                </a:solidFill>
                <a:latin typeface="Arial"/>
              </a:rPr>
              <a:t>Family-aware DDx (v2)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043312" y="4750208"/>
            <a:ext cx="1652320" cy="585315"/>
          </a:xfrm>
          <a:prstGeom prst="roundRect">
            <a:avLst>
              <a:gd name="adj" fmla="val 12000"/>
            </a:avLst>
          </a:prstGeom>
          <a:solidFill>
            <a:srgbClr val="F5E4ED"/>
          </a:solidFill>
          <a:ln w="11430">
            <a:solidFill>
              <a:srgbClr val="CC7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0144993" y="4855265"/>
            <a:ext cx="1499798" cy="2401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70" b="1" i="0">
                <a:solidFill>
                  <a:srgbClr val="9C4F78"/>
                </a:solidFill>
                <a:latin typeface="Arial"/>
              </a:rPr>
              <a:t>P5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44993" y="5125410"/>
            <a:ext cx="1499798" cy="2401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98" b="0" i="0">
                <a:solidFill>
                  <a:srgbClr val="333333"/>
                </a:solidFill>
                <a:latin typeface="Arial"/>
              </a:rPr>
              <a:t>Reasoning faithfulness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407804" y="3054294"/>
            <a:ext cx="635508" cy="450243"/>
          </a:xfrm>
          <a:prstGeom prst="line">
            <a:avLst/>
          </a:prstGeom>
          <a:ln w="17780">
            <a:solidFill>
              <a:srgbClr val="009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407804" y="4405022"/>
            <a:ext cx="635508" cy="375202"/>
          </a:xfrm>
          <a:prstGeom prst="line">
            <a:avLst/>
          </a:prstGeom>
          <a:ln w="17780">
            <a:solidFill>
              <a:srgbClr val="009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1949836" y="592968"/>
            <a:ext cx="965972" cy="360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43" b="1" i="0">
                <a:solidFill>
                  <a:srgbClr val="56B4E9"/>
                </a:solidFill>
                <a:latin typeface="Arial"/>
              </a:rPr>
              <a:t>Metrics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1949836" y="2303890"/>
            <a:ext cx="965972" cy="3301779"/>
          </a:xfrm>
          <a:prstGeom prst="roundRect">
            <a:avLst>
              <a:gd name="adj" fmla="val 12000"/>
            </a:avLst>
          </a:prstGeom>
          <a:solidFill>
            <a:srgbClr val="E7F4FC"/>
          </a:solidFill>
          <a:ln w="11430">
            <a:solidFill>
              <a:srgbClr val="56B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11949836" y="2679092"/>
            <a:ext cx="965972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98" b="0" i="0">
                <a:solidFill>
                  <a:srgbClr val="1F5D78"/>
                </a:solidFill>
                <a:latin typeface="Courier New"/>
              </a:rPr>
              <a:t>R@1/3/5/10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949836" y="3039286"/>
            <a:ext cx="965972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98" b="0" i="0">
                <a:solidFill>
                  <a:srgbClr val="1F5D78"/>
                </a:solidFill>
                <a:latin typeface="Courier New"/>
              </a:rPr>
              <a:t>MRR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949836" y="3399480"/>
            <a:ext cx="965972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98" b="0" i="0">
                <a:solidFill>
                  <a:srgbClr val="1F5D78"/>
                </a:solidFill>
                <a:latin typeface="Courier New"/>
              </a:rPr>
              <a:t>median rank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949836" y="3759674"/>
            <a:ext cx="965972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98" b="0" i="0">
                <a:solidFill>
                  <a:srgbClr val="1F5D78"/>
                </a:solidFill>
                <a:latin typeface="Courier New"/>
              </a:rPr>
              <a:t>P/R/F1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949836" y="4119868"/>
            <a:ext cx="965972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98" b="0" i="0">
                <a:solidFill>
                  <a:srgbClr val="1F5D78"/>
                </a:solidFill>
                <a:latin typeface="Courier New"/>
              </a:rPr>
              <a:t>cost / case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949836" y="4480063"/>
            <a:ext cx="965972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98" b="0" i="0">
                <a:solidFill>
                  <a:srgbClr val="1F5D78"/>
                </a:solidFill>
                <a:latin typeface="Courier New"/>
              </a:rPr>
              <a:t>pass^y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949836" y="4840257"/>
            <a:ext cx="965972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98" b="0" i="0">
                <a:solidFill>
                  <a:srgbClr val="1F5D78"/>
                </a:solidFill>
                <a:latin typeface="Courier New"/>
              </a:rPr>
              <a:t>faithfulness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949836" y="5200451"/>
            <a:ext cx="965972" cy="285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98" b="0" i="0">
                <a:solidFill>
                  <a:srgbClr val="1F5D78"/>
                </a:solidFill>
                <a:latin typeface="Courier New"/>
              </a:rPr>
              <a:t>bias strata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1695633" y="3954780"/>
            <a:ext cx="254203" cy="0"/>
          </a:xfrm>
          <a:prstGeom prst="line">
            <a:avLst/>
          </a:prstGeom>
          <a:ln w="20320">
            <a:solidFill>
              <a:srgbClr val="CC79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447141" y="6776300"/>
            <a:ext cx="12468666" cy="48025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016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447141" y="6776300"/>
            <a:ext cx="12468666" cy="4802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1" b="0" i="0">
                <a:solidFill>
                  <a:srgbClr val="444444"/>
                </a:solidFill>
                <a:latin typeface="Arial"/>
              </a:rPr>
              <a:t>Pre-registered protocol: H1–H11 hypotheses + A1–A12 ablations frozen at OSF · per-cell reproducibility receipts (run-id, request-id, $cost) released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56032"/>
            <a:ext cx="1271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Arial"/>
              </a:rPr>
              <a:t>Figure 2 · De-leaking the EHR layer (L2, MIMIC-IV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101498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33272"/>
            <a:ext cx="5989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Arial"/>
              </a:rPr>
              <a:t>De-leaking the EHR layer (L2): 150,033 admissions → 416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26133"/>
            <a:ext cx="4432096" cy="422452"/>
          </a:xfrm>
          <a:prstGeom prst="rect">
            <a:avLst/>
          </a:prstGeom>
          <a:solidFill>
            <a:srgbClr val="ADD2E6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82488" y="1526133"/>
            <a:ext cx="1005840" cy="4224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A4C74"/>
                </a:solidFill>
                <a:latin typeface="Arial"/>
              </a:rPr>
              <a:t>150,033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544421"/>
            <a:ext cx="4294936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2233"/>
                </a:solidFill>
                <a:latin typeface="Arial"/>
              </a:rPr>
              <a:t>rare-disease admissions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737360"/>
            <a:ext cx="4294936" cy="1929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5A6B78"/>
                </a:solidFill>
                <a:latin typeface="Arial"/>
              </a:rPr>
              <a:t>any ICD-&gt;Orphanet mapping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66213"/>
            <a:ext cx="4306897" cy="422452"/>
          </a:xfrm>
          <a:prstGeom prst="rect">
            <a:avLst/>
          </a:prstGeom>
          <a:solidFill>
            <a:srgbClr val="ADD2E6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57289" y="2166213"/>
            <a:ext cx="1005840" cy="4224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A4C74"/>
                </a:solidFill>
                <a:latin typeface="Arial"/>
              </a:rPr>
              <a:t>107,144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84501"/>
            <a:ext cx="4169737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2233"/>
                </a:solidFill>
                <a:latin typeface="Arial"/>
              </a:rPr>
              <a:t>exact (E) mapping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77439"/>
            <a:ext cx="4169737" cy="1929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5A6B78"/>
                </a:solidFill>
                <a:latin typeface="Arial"/>
              </a:rPr>
              <a:t>drop NTBT / BTNT approximate maps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06293"/>
            <a:ext cx="3651577" cy="422452"/>
          </a:xfrm>
          <a:prstGeom prst="rect">
            <a:avLst/>
          </a:prstGeom>
          <a:solidFill>
            <a:srgbClr val="ADD2E6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1969" y="2806293"/>
            <a:ext cx="1005840" cy="4224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A4C74"/>
                </a:solidFill>
                <a:latin typeface="Arial"/>
              </a:rPr>
              <a:t>18,392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824581"/>
            <a:ext cx="3514417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2233"/>
                </a:solidFill>
                <a:latin typeface="Arial"/>
              </a:rPr>
              <a:t>genuinely rare gold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017520"/>
            <a:ext cx="3514417" cy="1929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5A6B78"/>
                </a:solidFill>
                <a:latin typeface="Arial"/>
              </a:rPr>
              <a:t>drop non-rare codes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46373"/>
            <a:ext cx="2882491" cy="422452"/>
          </a:xfrm>
          <a:prstGeom prst="rect">
            <a:avLst/>
          </a:prstGeom>
          <a:solidFill>
            <a:srgbClr val="ADD2E6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32883" y="3446373"/>
            <a:ext cx="1005840" cy="4224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A4C74"/>
                </a:solidFill>
                <a:latin typeface="Arial"/>
              </a:rPr>
              <a:t>2,325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464661"/>
            <a:ext cx="2745331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2233"/>
                </a:solidFill>
                <a:latin typeface="Arial"/>
              </a:rPr>
              <a:t>gold is principal dx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3657599"/>
            <a:ext cx="2745331" cy="1929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5A6B78"/>
                </a:solidFill>
                <a:latin typeface="Arial"/>
              </a:rPr>
              <a:t>drop secondary dx / past 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086453"/>
            <a:ext cx="2653205" cy="422452"/>
          </a:xfrm>
          <a:prstGeom prst="rect">
            <a:avLst/>
          </a:prstGeom>
          <a:solidFill>
            <a:srgbClr val="ADD2E6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3597" y="4086453"/>
            <a:ext cx="1005840" cy="4224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A4C74"/>
                </a:solidFill>
                <a:latin typeface="Arial"/>
              </a:rPr>
              <a:t>1,255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104741"/>
            <a:ext cx="2516045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2233"/>
                </a:solidFill>
                <a:latin typeface="Arial"/>
              </a:rPr>
              <a:t>discharge summary exists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297679"/>
            <a:ext cx="2516045" cy="1929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5A6B78"/>
                </a:solidFill>
                <a:latin typeface="Arial"/>
              </a:rPr>
              <a:t>117 diseases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726533"/>
            <a:ext cx="2598392" cy="422452"/>
          </a:xfrm>
          <a:prstGeom prst="rect">
            <a:avLst/>
          </a:prstGeom>
          <a:solidFill>
            <a:srgbClr val="D1495B"/>
          </a:solidFill>
          <a:ln w="11430">
            <a:solidFill>
              <a:srgbClr val="D14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48784" y="4726533"/>
            <a:ext cx="1005840" cy="4224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D1495B"/>
                </a:solidFill>
                <a:latin typeface="Arial"/>
              </a:rPr>
              <a:t>1,083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744821"/>
            <a:ext cx="2461232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no prior-known mention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937759"/>
            <a:ext cx="2461232" cy="1929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F3DDE1"/>
                </a:solidFill>
                <a:latin typeface="Arial"/>
              </a:rPr>
              <a:t>-172 'hx of X', 's/p', 'known'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366613"/>
            <a:ext cx="2429137" cy="422452"/>
          </a:xfrm>
          <a:prstGeom prst="rect">
            <a:avLst/>
          </a:prstGeom>
          <a:solidFill>
            <a:srgbClr val="D1495B"/>
          </a:solidFill>
          <a:ln w="11430">
            <a:solidFill>
              <a:srgbClr val="D149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79529" y="5366613"/>
            <a:ext cx="1005840" cy="4224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D1495B"/>
                </a:solidFill>
                <a:latin typeface="Arial"/>
              </a:rPr>
              <a:t>687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5384901"/>
            <a:ext cx="2291977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strict-A synonym screen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5577839"/>
            <a:ext cx="2291977" cy="1929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F3DDE1"/>
                </a:solidFill>
                <a:latin typeface="Arial"/>
              </a:rPr>
              <a:t>-19.6% still had a gold synonym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6006693"/>
            <a:ext cx="2242592" cy="422452"/>
          </a:xfrm>
          <a:prstGeom prst="rect">
            <a:avLst/>
          </a:prstGeom>
          <a:solidFill>
            <a:srgbClr val="ADD2E6"/>
          </a:solidFill>
          <a:ln w="1143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92984" y="6006693"/>
            <a:ext cx="1005840" cy="4224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0A4C74"/>
                </a:solidFill>
                <a:latin typeface="Arial"/>
              </a:rPr>
              <a:t>416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6024981"/>
            <a:ext cx="2105432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12233"/>
                </a:solidFill>
                <a:latin typeface="Arial"/>
              </a:rPr>
              <a:t>HPO-annotated diseases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6217919"/>
            <a:ext cx="2105432" cy="1929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5A6B78"/>
                </a:solidFill>
                <a:latin typeface="Arial"/>
              </a:rPr>
              <a:t>68 diseases · stratification parity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592823"/>
            <a:ext cx="5989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D1495B"/>
                </a:solidFill>
                <a:latin typeface="Arial"/>
              </a:rPr>
              <a:t>red = anti-leakage filters introduced here (bar length = log₁₀ surviving cases)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101498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Arial"/>
              </a:rPr>
              <a:t>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1033272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11111"/>
                </a:solidFill>
                <a:latin typeface="Arial"/>
              </a:rPr>
              <a:t>Leakage reorders backbones (identical 416 cases)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006840" y="1417320"/>
            <a:ext cx="0" cy="4736592"/>
          </a:xfrm>
          <a:prstGeom prst="line">
            <a:avLst/>
          </a:prstGeom>
          <a:ln w="1143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6840" y="6153912"/>
            <a:ext cx="2560320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622792" y="6071616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44444"/>
                </a:solidFill>
                <a:latin typeface="Arial"/>
              </a:rPr>
              <a:t>0.30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006840" y="5364480"/>
            <a:ext cx="2560320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622792" y="5282184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44444"/>
                </a:solidFill>
                <a:latin typeface="Arial"/>
              </a:rPr>
              <a:t>0.35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006840" y="4575047"/>
            <a:ext cx="2560320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622792" y="4492751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44444"/>
                </a:solidFill>
                <a:latin typeface="Arial"/>
              </a:rPr>
              <a:t>0.40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006840" y="3785615"/>
            <a:ext cx="2560320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622792" y="3703320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44444"/>
                </a:solidFill>
                <a:latin typeface="Arial"/>
              </a:rPr>
              <a:t>0.45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006840" y="2996183"/>
            <a:ext cx="2560320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622792" y="2913888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44444"/>
                </a:solidFill>
                <a:latin typeface="Arial"/>
              </a:rPr>
              <a:t>0.50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006840" y="2206751"/>
            <a:ext cx="2560320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622792" y="2124455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44444"/>
                </a:solidFill>
                <a:latin typeface="Arial"/>
              </a:rPr>
              <a:t>0.55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006840" y="1417320"/>
            <a:ext cx="2560320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622792" y="1335024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44444"/>
                </a:solidFill>
                <a:latin typeface="Arial"/>
              </a:rPr>
              <a:t>0.60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99832" y="3374135"/>
            <a:ext cx="8686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R@1</a:t>
            </a:r>
          </a:p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bare LLM</a:t>
            </a:r>
          </a:p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control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79484" y="6208775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leaked</a:t>
            </a:r>
          </a:p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(ICD titles in note)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22915" y="6208775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de-leaked</a:t>
            </a:r>
          </a:p>
          <a:p>
            <a:pPr algn="ctr"/>
            <a:r>
              <a:rPr sz="800" b="0" i="0">
                <a:solidFill>
                  <a:srgbClr val="111111"/>
                </a:solidFill>
                <a:latin typeface="Arial"/>
              </a:rPr>
              <a:t>(masked presentation)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365284" y="3754038"/>
            <a:ext cx="1843431" cy="1247303"/>
          </a:xfrm>
          <a:prstGeom prst="line">
            <a:avLst/>
          </a:prstGeom>
          <a:ln w="22860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9326422" y="3715176"/>
            <a:ext cx="77724" cy="77724"/>
          </a:xfrm>
          <a:prstGeom prst="ellipse">
            <a:avLst/>
          </a:prstGeom>
          <a:solidFill>
            <a:srgbClr val="009E73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169853" y="4962479"/>
            <a:ext cx="77724" cy="77724"/>
          </a:xfrm>
          <a:prstGeom prst="ellipse">
            <a:avLst/>
          </a:prstGeom>
          <a:solidFill>
            <a:srgbClr val="009E73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86292" y="3671742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009E73"/>
                </a:solidFill>
                <a:latin typeface="Arial"/>
              </a:rPr>
              <a:t>Gemini Flash 0.452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11263579" y="2980395"/>
            <a:ext cx="146304" cy="2020946"/>
          </a:xfrm>
          <a:prstGeom prst="line">
            <a:avLst/>
          </a:prstGeom>
          <a:ln w="8890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1437315" y="2898099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09E73"/>
                </a:solidFill>
                <a:latin typeface="Arial"/>
              </a:rPr>
              <a:t>Gemini Flash 0.373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365284" y="2996183"/>
            <a:ext cx="1843431" cy="2131467"/>
          </a:xfrm>
          <a:prstGeom prst="line">
            <a:avLst/>
          </a:prstGeom>
          <a:ln w="2286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9326422" y="2957322"/>
            <a:ext cx="77724" cy="77724"/>
          </a:xfrm>
          <a:prstGeom prst="ellipse">
            <a:avLst/>
          </a:prstGeom>
          <a:solidFill>
            <a:srgbClr val="0072B2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169853" y="5088788"/>
            <a:ext cx="77724" cy="77724"/>
          </a:xfrm>
          <a:prstGeom prst="ellipse">
            <a:avLst/>
          </a:prstGeom>
          <a:solidFill>
            <a:srgbClr val="0072B2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86292" y="291388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0072B2"/>
                </a:solidFill>
                <a:latin typeface="Arial"/>
              </a:rPr>
              <a:t>DS V4-Pro 0.500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11263579" y="3154131"/>
            <a:ext cx="146304" cy="1973519"/>
          </a:xfrm>
          <a:prstGeom prst="line">
            <a:avLst/>
          </a:prstGeom>
          <a:ln w="889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1437315" y="3071835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072B2"/>
                </a:solidFill>
                <a:latin typeface="Arial"/>
              </a:rPr>
              <a:t>DS V4-Pro 0.365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365284" y="4180331"/>
            <a:ext cx="1843431" cy="978896"/>
          </a:xfrm>
          <a:prstGeom prst="line">
            <a:avLst/>
          </a:prstGeom>
          <a:ln w="2286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9326422" y="4141469"/>
            <a:ext cx="77724" cy="77724"/>
          </a:xfrm>
          <a:prstGeom prst="ellipse">
            <a:avLst/>
          </a:prstGeom>
          <a:solidFill>
            <a:srgbClr val="D55E00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1169853" y="5120365"/>
            <a:ext cx="77724" cy="77724"/>
          </a:xfrm>
          <a:prstGeom prst="ellipse">
            <a:avLst/>
          </a:prstGeom>
          <a:solidFill>
            <a:srgbClr val="D55E00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86292" y="4098036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D55E00"/>
                </a:solidFill>
                <a:latin typeface="Arial"/>
              </a:rPr>
              <a:t>GPT-5 min 0.425</a:t>
            </a:r>
          </a:p>
        </p:txBody>
      </p:sp>
      <p:cxnSp>
        <p:nvCxnSpPr>
          <p:cNvPr id="74" name="Connector 73"/>
          <p:cNvCxnSpPr/>
          <p:nvPr/>
        </p:nvCxnSpPr>
        <p:spPr>
          <a:xfrm flipV="1">
            <a:off x="11263579" y="3327867"/>
            <a:ext cx="146304" cy="1831360"/>
          </a:xfrm>
          <a:prstGeom prst="line">
            <a:avLst/>
          </a:prstGeom>
          <a:ln w="889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1437315" y="3245571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D55E00"/>
                </a:solidFill>
                <a:latin typeface="Arial"/>
              </a:rPr>
              <a:t>GPT-5 min 0.363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9365284" y="2159386"/>
            <a:ext cx="1843431" cy="3157728"/>
          </a:xfrm>
          <a:prstGeom prst="line">
            <a:avLst/>
          </a:prstGeom>
          <a:ln w="22860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9326422" y="2120524"/>
            <a:ext cx="77724" cy="77724"/>
          </a:xfrm>
          <a:prstGeom prst="ellipse">
            <a:avLst/>
          </a:prstGeom>
          <a:solidFill>
            <a:srgbClr val="E69F00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169853" y="5278252"/>
            <a:ext cx="77724" cy="77724"/>
          </a:xfrm>
          <a:prstGeom prst="ellipse">
            <a:avLst/>
          </a:prstGeom>
          <a:solidFill>
            <a:srgbClr val="E69F00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86292" y="207709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E69F00"/>
                </a:solidFill>
                <a:latin typeface="Arial"/>
              </a:rPr>
              <a:t>DS V4-Flash 0.553</a:t>
            </a:r>
          </a:p>
        </p:txBody>
      </p:sp>
      <p:cxnSp>
        <p:nvCxnSpPr>
          <p:cNvPr id="80" name="Connector 79"/>
          <p:cNvCxnSpPr/>
          <p:nvPr/>
        </p:nvCxnSpPr>
        <p:spPr>
          <a:xfrm flipV="1">
            <a:off x="11263579" y="3501603"/>
            <a:ext cx="146304" cy="1815511"/>
          </a:xfrm>
          <a:prstGeom prst="line">
            <a:avLst/>
          </a:prstGeom>
          <a:ln w="8890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1437315" y="3419307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E69F00"/>
                </a:solidFill>
                <a:latin typeface="Arial"/>
              </a:rPr>
              <a:t>DS V4-Flash 0.353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39604" y="1562709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D1495B"/>
                </a:solidFill>
                <a:latin typeface="Arial"/>
              </a:rPr>
              <a:t>V4-Flash appears best</a:t>
            </a:r>
          </a:p>
          <a:p>
            <a:pPr algn="l"/>
            <a:r>
              <a:rPr sz="750" b="0" i="0">
                <a:solidFill>
                  <a:srgbClr val="D1495B"/>
                </a:solidFill>
                <a:latin typeface="Arial"/>
              </a:rPr>
              <a:t>when leaked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774936" y="5806561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072B2"/>
                </a:solidFill>
                <a:latin typeface="Arial"/>
              </a:rPr>
              <a:t>all four converge</a:t>
            </a:r>
          </a:p>
          <a:p>
            <a:pPr algn="l"/>
            <a:r>
              <a:rPr sz="750" b="0" i="0">
                <a:solidFill>
                  <a:srgbClr val="0072B2"/>
                </a:solidFill>
                <a:latin typeface="Arial"/>
              </a:rPr>
              <a:t>to 0.35–0.37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