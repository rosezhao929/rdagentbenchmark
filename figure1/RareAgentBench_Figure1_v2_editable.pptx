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334999" cy="786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153" y="432352"/>
            <a:ext cx="2556662" cy="193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072B2"/>
                </a:solidFill>
                <a:latin typeface="Arial"/>
              </a:rPr>
              <a:t>Data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153" y="794633"/>
            <a:ext cx="2556662" cy="595751"/>
          </a:xfrm>
          <a:prstGeom prst="roundRect">
            <a:avLst>
              <a:gd name="adj" fmla="val 12000"/>
            </a:avLst>
          </a:prstGeom>
          <a:solidFill>
            <a:srgbClr val="DEEDF5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17202" y="875140"/>
            <a:ext cx="2364912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072B2"/>
                </a:solidFill>
                <a:latin typeface="Arial"/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202" y="1036154"/>
            <a:ext cx="2364912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Arial"/>
              </a:rPr>
              <a:t>Phenopacket-Store + RareBench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7202" y="1197168"/>
            <a:ext cx="2364912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A6B78"/>
                </a:solidFill>
                <a:latin typeface="Arial"/>
              </a:rPr>
              <a:t>11,173 · HPO, gold, variants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153" y="1519196"/>
            <a:ext cx="2556662" cy="595751"/>
          </a:xfrm>
          <a:prstGeom prst="roundRect">
            <a:avLst>
              <a:gd name="adj" fmla="val 12000"/>
            </a:avLst>
          </a:prstGeom>
          <a:solidFill>
            <a:srgbClr val="DEEDF5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7202" y="1599703"/>
            <a:ext cx="2364912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072B2"/>
                </a:solidFill>
                <a:latin typeface="Arial"/>
              </a:rPr>
              <a:t>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202" y="1760716"/>
            <a:ext cx="2364912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Arial"/>
              </a:rPr>
              <a:t>MIMIC-IV discharge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02" y="1921730"/>
            <a:ext cx="2364912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A6B78"/>
                </a:solidFill>
                <a:latin typeface="Arial"/>
              </a:rPr>
              <a:t>416 · de-leaked, see (b)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153" y="2243758"/>
            <a:ext cx="2556662" cy="595751"/>
          </a:xfrm>
          <a:prstGeom prst="roundRect">
            <a:avLst>
              <a:gd name="adj" fmla="val 12000"/>
            </a:avLst>
          </a:prstGeom>
          <a:solidFill>
            <a:srgbClr val="DEEDF5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7202" y="2324265"/>
            <a:ext cx="2364912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072B2"/>
                </a:solidFill>
                <a:latin typeface="Arial"/>
              </a:rPr>
              <a:t>L3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202" y="2485279"/>
            <a:ext cx="2364912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Arial"/>
              </a:rPr>
              <a:t>RareArena 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202" y="2646293"/>
            <a:ext cx="2364912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A6B78"/>
                </a:solidFill>
                <a:latin typeface="Arial"/>
              </a:rPr>
              <a:t>72,661 · free-text vignette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153" y="2968321"/>
            <a:ext cx="2556662" cy="595751"/>
          </a:xfrm>
          <a:prstGeom prst="roundRect">
            <a:avLst>
              <a:gd name="adj" fmla="val 12000"/>
            </a:avLst>
          </a:prstGeom>
          <a:solidFill>
            <a:srgbClr val="DEEDF5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17202" y="3048828"/>
            <a:ext cx="2364912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072B2"/>
                </a:solidFill>
                <a:latin typeface="Arial"/>
              </a:rPr>
              <a:t>L4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202" y="3209842"/>
            <a:ext cx="2364912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Arial"/>
              </a:rPr>
              <a:t>PMC-OA holdout ≥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202" y="3370856"/>
            <a:ext cx="2364912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A6B78"/>
                </a:solidFill>
                <a:latin typeface="Arial"/>
              </a:rPr>
              <a:t>198 · post-cutoff,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0148" y="432352"/>
            <a:ext cx="1725747" cy="193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Unified contract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0148" y="1350131"/>
            <a:ext cx="1725747" cy="1771153"/>
          </a:xfrm>
          <a:prstGeom prst="roundRect">
            <a:avLst>
              <a:gd name="adj" fmla="val 12000"/>
            </a:avLst>
          </a:prstGeom>
          <a:solidFill>
            <a:srgbClr val="FBFBFB"/>
          </a:solidFill>
          <a:ln w="177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70148" y="1462841"/>
            <a:ext cx="1725747" cy="1610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11111"/>
                </a:solidFill>
                <a:latin typeface="Arial"/>
              </a:rPr>
              <a:t>CanonicalCase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0148" y="1639956"/>
            <a:ext cx="1725747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  <a:latin typeface="Arial"/>
              </a:rPr>
              <a:t>Pydantic-v2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7981" y="1809021"/>
            <a:ext cx="154678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Courier New"/>
              </a:rPr>
              <a:t>identity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7981" y="1961984"/>
            <a:ext cx="154678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Courier New"/>
              </a:rPr>
              <a:t>demographics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7981" y="2114947"/>
            <a:ext cx="154678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Courier New"/>
              </a:rPr>
              <a:t>free_text 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7981" y="2267910"/>
            <a:ext cx="154678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Courier New"/>
              </a:rPr>
              <a:t>  synthetic vignette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7981" y="2420873"/>
            <a:ext cx="154678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Courier New"/>
              </a:rPr>
              <a:t>gold_hpo_terms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7981" y="2573837"/>
            <a:ext cx="154678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Courier New"/>
              </a:rPr>
              <a:t>variants · vcf_path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7981" y="2726800"/>
            <a:ext cx="154678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Courier New"/>
              </a:rPr>
              <a:t>family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7981" y="2879763"/>
            <a:ext cx="154678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  <a:latin typeface="Courier New"/>
              </a:rPr>
              <a:t>gold_label (parallel ID)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958815" y="1092509"/>
            <a:ext cx="511333" cy="1143199"/>
          </a:xfrm>
          <a:prstGeom prst="line">
            <a:avLst/>
          </a:prstGeom>
          <a:ln w="13970">
            <a:solidFill>
              <a:srgbClr val="0072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58815" y="1817071"/>
            <a:ext cx="511333" cy="418637"/>
          </a:xfrm>
          <a:prstGeom prst="line">
            <a:avLst/>
          </a:prstGeom>
          <a:ln w="13970">
            <a:solidFill>
              <a:srgbClr val="0072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958815" y="2235708"/>
            <a:ext cx="511333" cy="305926"/>
          </a:xfrm>
          <a:prstGeom prst="line">
            <a:avLst/>
          </a:prstGeom>
          <a:ln w="13970">
            <a:solidFill>
              <a:srgbClr val="0072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958815" y="2235708"/>
            <a:ext cx="511333" cy="1030489"/>
          </a:xfrm>
          <a:prstGeom prst="line">
            <a:avLst/>
          </a:prstGeom>
          <a:ln w="13970">
            <a:solidFill>
              <a:srgbClr val="0072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515477" y="432352"/>
            <a:ext cx="1661830" cy="193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E69F00"/>
                </a:solidFill>
                <a:latin typeface="Arial"/>
              </a:rPr>
              <a:t>Agent adapters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15477" y="1350131"/>
            <a:ext cx="1661830" cy="1771153"/>
          </a:xfrm>
          <a:prstGeom prst="roundRect">
            <a:avLst>
              <a:gd name="adj" fmla="val 12000"/>
            </a:avLst>
          </a:prstGeom>
          <a:solidFill>
            <a:srgbClr val="FCF3DE"/>
          </a:solidFill>
          <a:ln w="1143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515477" y="1446739"/>
            <a:ext cx="1661830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A5A00"/>
                </a:solidFill>
                <a:latin typeface="Arial"/>
              </a:rPr>
              <a:t>11 systems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15477" y="1648007"/>
            <a:ext cx="166183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DeepRare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5477" y="1796945"/>
            <a:ext cx="166183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MDAgents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15477" y="1945882"/>
            <a:ext cx="166183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MedAgents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5477" y="2094820"/>
            <a:ext cx="166183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AgentClinic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15477" y="2243758"/>
            <a:ext cx="166183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MAI-DxO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15477" y="2392696"/>
            <a:ext cx="166183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RDMA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15477" y="2541634"/>
            <a:ext cx="166183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VC-RDAgent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15477" y="2690572"/>
            <a:ext cx="166183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LIRICAL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15477" y="2839510"/>
            <a:ext cx="1661830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+3 LLM controls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5477" y="3008574"/>
            <a:ext cx="1661830" cy="128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1">
                <a:solidFill>
                  <a:srgbClr val="8A5A00"/>
                </a:solidFill>
                <a:latin typeface="Arial"/>
              </a:rPr>
              <a:t>subprocess isolation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195895" y="2235708"/>
            <a:ext cx="319582" cy="0"/>
          </a:xfrm>
          <a:prstGeom prst="line">
            <a:avLst/>
          </a:prstGeom>
          <a:ln w="2032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496891" y="432352"/>
            <a:ext cx="1917496" cy="193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09E73"/>
                </a:solidFill>
                <a:latin typeface="Arial"/>
              </a:rPr>
              <a:t>Dual-pass eval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6891" y="1390384"/>
            <a:ext cx="1917496" cy="724562"/>
          </a:xfrm>
          <a:prstGeom prst="roundRect">
            <a:avLst>
              <a:gd name="adj" fmla="val 12000"/>
            </a:avLst>
          </a:prstGeom>
          <a:solidFill>
            <a:srgbClr val="D6EFE9"/>
          </a:solidFill>
          <a:ln w="1143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496891" y="1478942"/>
            <a:ext cx="1917496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0694D"/>
                </a:solidFill>
                <a:latin typeface="Arial"/>
              </a:rPr>
              <a:t>Pass A · gold HPO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6891" y="1672159"/>
            <a:ext cx="1917496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curated HPO → downstream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6891" y="1841223"/>
            <a:ext cx="1917496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1">
                <a:solidFill>
                  <a:srgbClr val="00694D"/>
                </a:solidFill>
                <a:latin typeface="Arial"/>
              </a:rPr>
              <a:t>isolates capability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96891" y="2316214"/>
            <a:ext cx="1917496" cy="724562"/>
          </a:xfrm>
          <a:prstGeom prst="roundRect">
            <a:avLst>
              <a:gd name="adj" fmla="val 12000"/>
            </a:avLst>
          </a:prstGeom>
          <a:solidFill>
            <a:srgbClr val="D6EFE9"/>
          </a:solidFill>
          <a:ln w="1143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496891" y="2404772"/>
            <a:ext cx="1917496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0694D"/>
                </a:solidFill>
                <a:latin typeface="Arial"/>
              </a:rPr>
              <a:t>Pass B · end-to-end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6891" y="2597989"/>
            <a:ext cx="1917496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free text → agent extracts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6891" y="2767053"/>
            <a:ext cx="1917496" cy="144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1">
                <a:solidFill>
                  <a:srgbClr val="00694D"/>
                </a:solidFill>
                <a:latin typeface="Arial"/>
              </a:rPr>
              <a:t>deployment performance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7177308" y="1752666"/>
            <a:ext cx="319583" cy="241521"/>
          </a:xfrm>
          <a:prstGeom prst="line">
            <a:avLst/>
          </a:prstGeom>
          <a:ln w="17780">
            <a:solidFill>
              <a:srgbClr val="E69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177308" y="2477228"/>
            <a:ext cx="319583" cy="201268"/>
          </a:xfrm>
          <a:prstGeom prst="line">
            <a:avLst/>
          </a:prstGeom>
          <a:ln w="17780">
            <a:solidFill>
              <a:srgbClr val="E69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455639" y="2122998"/>
            <a:ext cx="0" cy="185166"/>
          </a:xfrm>
          <a:prstGeom prst="line">
            <a:avLst/>
          </a:prstGeom>
          <a:ln w="16510">
            <a:solidFill>
              <a:srgbClr val="D14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465521" y="2042491"/>
            <a:ext cx="1150498" cy="3703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1" i="0">
                <a:solidFill>
                  <a:srgbClr val="D1495B"/>
                </a:solidFill>
                <a:latin typeface="Arial"/>
              </a:rPr>
              <a:t>A−B</a:t>
            </a:r>
          </a:p>
          <a:p>
            <a:pPr algn="l">
              <a:lnSpc>
                <a:spcPct val="95000"/>
              </a:lnSpc>
            </a:pPr>
            <a:r>
              <a:rPr sz="750" b="1" i="0">
                <a:solidFill>
                  <a:srgbClr val="D1495B"/>
                </a:solidFill>
                <a:latin typeface="Arial"/>
              </a:rPr>
              <a:t>= P1</a:t>
            </a:r>
          </a:p>
          <a:p>
            <a:pPr algn="l">
              <a:lnSpc>
                <a:spcPct val="95000"/>
              </a:lnSpc>
            </a:pPr>
            <a:r>
              <a:rPr sz="750" b="1" i="0">
                <a:solidFill>
                  <a:srgbClr val="D1495B"/>
                </a:solidFill>
                <a:latin typeface="Arial"/>
              </a:rPr>
              <a:t>sensitivity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3553" y="432352"/>
            <a:ext cx="1661830" cy="193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CC79A7"/>
                </a:solidFill>
                <a:latin typeface="Arial"/>
              </a:rPr>
              <a:t>Five pillars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053553" y="1116661"/>
            <a:ext cx="1661830" cy="313977"/>
          </a:xfrm>
          <a:prstGeom prst="roundRect">
            <a:avLst>
              <a:gd name="adj" fmla="val 12000"/>
            </a:avLst>
          </a:prstGeom>
          <a:solidFill>
            <a:srgbClr val="F5E4ED"/>
          </a:solidFill>
          <a:ln w="1143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0155820" y="1173016"/>
            <a:ext cx="1508430" cy="128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9C4F78"/>
                </a:solidFill>
                <a:latin typeface="Arial"/>
              </a:rPr>
              <a:t>P1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55820" y="1317928"/>
            <a:ext cx="1508430" cy="128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Arial"/>
              </a:rPr>
              <a:t>Phenotype extraction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053553" y="1503094"/>
            <a:ext cx="1661830" cy="313977"/>
          </a:xfrm>
          <a:prstGeom prst="roundRect">
            <a:avLst>
              <a:gd name="adj" fmla="val 12000"/>
            </a:avLst>
          </a:prstGeom>
          <a:solidFill>
            <a:srgbClr val="F5E4ED"/>
          </a:solidFill>
          <a:ln w="1143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0155820" y="1559449"/>
            <a:ext cx="1508430" cy="128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9C4F78"/>
                </a:solidFill>
                <a:latin typeface="Arial"/>
              </a:rPr>
              <a:t>P2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55820" y="1704362"/>
            <a:ext cx="1508430" cy="128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Arial"/>
              </a:rPr>
              <a:t>Phenotype-only DDx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053553" y="1889528"/>
            <a:ext cx="1661830" cy="313977"/>
          </a:xfrm>
          <a:prstGeom prst="roundRect">
            <a:avLst>
              <a:gd name="adj" fmla="val 12000"/>
            </a:avLst>
          </a:prstGeom>
          <a:solidFill>
            <a:srgbClr val="F5E4ED"/>
          </a:solidFill>
          <a:ln w="1143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0155820" y="1945882"/>
            <a:ext cx="1508430" cy="128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9C4F78"/>
                </a:solidFill>
                <a:latin typeface="Arial"/>
              </a:rPr>
              <a:t>P3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55820" y="2090795"/>
            <a:ext cx="1508430" cy="128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Arial"/>
              </a:rPr>
              <a:t>Genotype-aware DDx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053553" y="2275961"/>
            <a:ext cx="1661830" cy="313977"/>
          </a:xfrm>
          <a:prstGeom prst="roundRect">
            <a:avLst>
              <a:gd name="adj" fmla="val 12000"/>
            </a:avLst>
          </a:prstGeom>
          <a:solidFill>
            <a:srgbClr val="FAF2F6"/>
          </a:solidFill>
          <a:ln w="1143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0155820" y="2332316"/>
            <a:ext cx="1508430" cy="128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BB97AC"/>
                </a:solidFill>
                <a:latin typeface="Arial"/>
              </a:rPr>
              <a:t>P4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55820" y="2477228"/>
            <a:ext cx="1508430" cy="128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Arial"/>
              </a:rPr>
              <a:t>Family-aware DDx (v2)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053553" y="2662394"/>
            <a:ext cx="1661830" cy="313977"/>
          </a:xfrm>
          <a:prstGeom prst="roundRect">
            <a:avLst>
              <a:gd name="adj" fmla="val 12000"/>
            </a:avLst>
          </a:prstGeom>
          <a:solidFill>
            <a:srgbClr val="F5E4ED"/>
          </a:solidFill>
          <a:ln w="1143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0155820" y="2718749"/>
            <a:ext cx="1508430" cy="128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9C4F78"/>
                </a:solidFill>
                <a:latin typeface="Arial"/>
              </a:rPr>
              <a:t>P5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55820" y="2863662"/>
            <a:ext cx="1508430" cy="128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Arial"/>
              </a:rPr>
              <a:t>Reasoning faithfulness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414388" y="1752666"/>
            <a:ext cx="639165" cy="241521"/>
          </a:xfrm>
          <a:prstGeom prst="line">
            <a:avLst/>
          </a:prstGeom>
          <a:ln w="17780">
            <a:solidFill>
              <a:srgbClr val="009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414388" y="2477228"/>
            <a:ext cx="639165" cy="201268"/>
          </a:xfrm>
          <a:prstGeom prst="line">
            <a:avLst/>
          </a:prstGeom>
          <a:ln w="17780">
            <a:solidFill>
              <a:srgbClr val="009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1971050" y="432352"/>
            <a:ext cx="971531" cy="193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56B4E9"/>
                </a:solidFill>
                <a:latin typeface="Arial"/>
              </a:rPr>
              <a:t>Metrics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971050" y="1350131"/>
            <a:ext cx="971531" cy="1771153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 w="11430">
            <a:solidFill>
              <a:srgbClr val="56B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11971050" y="1551398"/>
            <a:ext cx="971531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1F5D78"/>
                </a:solidFill>
                <a:latin typeface="Courier New"/>
              </a:rPr>
              <a:t>R@1/3/5/10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971050" y="1744615"/>
            <a:ext cx="971531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1F5D78"/>
                </a:solidFill>
                <a:latin typeface="Courier New"/>
              </a:rPr>
              <a:t>MRR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971050" y="1937832"/>
            <a:ext cx="971531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1F5D78"/>
                </a:solidFill>
                <a:latin typeface="Courier New"/>
              </a:rPr>
              <a:t>median rank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971050" y="2131048"/>
            <a:ext cx="971531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1F5D78"/>
                </a:solidFill>
                <a:latin typeface="Courier New"/>
              </a:rPr>
              <a:t>P/R/F1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971050" y="2324265"/>
            <a:ext cx="971531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1F5D78"/>
                </a:solidFill>
                <a:latin typeface="Courier New"/>
              </a:rPr>
              <a:t>cost / case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971050" y="2517482"/>
            <a:ext cx="971531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1F5D78"/>
                </a:solidFill>
                <a:latin typeface="Courier New"/>
              </a:rPr>
              <a:t>pass^y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971050" y="2710699"/>
            <a:ext cx="971531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1F5D78"/>
                </a:solidFill>
                <a:latin typeface="Courier New"/>
              </a:rPr>
              <a:t>faithfulness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971050" y="2903915"/>
            <a:ext cx="971531" cy="152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1F5D78"/>
                </a:solidFill>
                <a:latin typeface="Courier New"/>
              </a:rPr>
              <a:t>bias strata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1715384" y="2235708"/>
            <a:ext cx="255666" cy="0"/>
          </a:xfrm>
          <a:prstGeom prst="line">
            <a:avLst/>
          </a:prstGeom>
          <a:ln w="20320">
            <a:solidFill>
              <a:srgbClr val="CC79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402153" y="3749238"/>
            <a:ext cx="12540429" cy="257622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016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402153" y="3749238"/>
            <a:ext cx="12540429" cy="2576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  <a:latin typeface="Arial"/>
              </a:rPr>
              <a:t>Pre-registered protocol: H1–H11 hypotheses + A1–A12 ablations frozen at OSF · per-cell reproducibility receipts (run-id, request-id, $cost) released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1752" y="446227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Arial"/>
              </a:rPr>
              <a:t>b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" y="4480560"/>
            <a:ext cx="6446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Arial"/>
              </a:rPr>
              <a:t>De-leaking the EHR layer (L2): 150,033 admissions → 416 cases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4918626"/>
            <a:ext cx="4770424" cy="209717"/>
          </a:xfrm>
          <a:prstGeom prst="rect">
            <a:avLst/>
          </a:prstGeom>
          <a:solidFill>
            <a:srgbClr val="ADD2E6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46496" y="4918626"/>
            <a:ext cx="1005840" cy="20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A4C74"/>
                </a:solidFill>
                <a:latin typeface="Arial"/>
              </a:rPr>
              <a:t>150,033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85216" y="4936914"/>
            <a:ext cx="4633264" cy="104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2233"/>
                </a:solidFill>
                <a:latin typeface="Arial"/>
              </a:rPr>
              <a:t>rare-disease admissions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5216" y="5023485"/>
            <a:ext cx="4633264" cy="86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5A6B78"/>
                </a:solidFill>
                <a:latin typeface="Arial"/>
              </a:rPr>
              <a:t>any ICD-&gt;Orphanet mapping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920" y="5236380"/>
            <a:ext cx="4635667" cy="209717"/>
          </a:xfrm>
          <a:prstGeom prst="rect">
            <a:avLst/>
          </a:prstGeom>
          <a:solidFill>
            <a:srgbClr val="ADD2E6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211739" y="5236380"/>
            <a:ext cx="1005840" cy="20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A4C74"/>
                </a:solidFill>
                <a:latin typeface="Arial"/>
              </a:rPr>
              <a:t>107,144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85216" y="5254668"/>
            <a:ext cx="4498507" cy="104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2233"/>
                </a:solidFill>
                <a:latin typeface="Arial"/>
              </a:rPr>
              <a:t>exact (E) mapping only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5216" y="5341239"/>
            <a:ext cx="4498507" cy="86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5A6B78"/>
                </a:solidFill>
                <a:latin typeface="Arial"/>
              </a:rPr>
              <a:t>drop NTBT / BTNT approximate maps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02920" y="5554134"/>
            <a:ext cx="3930324" cy="209717"/>
          </a:xfrm>
          <a:prstGeom prst="rect">
            <a:avLst/>
          </a:prstGeom>
          <a:solidFill>
            <a:srgbClr val="ADD2E6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506396" y="5554134"/>
            <a:ext cx="1005840" cy="20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A4C74"/>
                </a:solidFill>
                <a:latin typeface="Arial"/>
              </a:rPr>
              <a:t>18,392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85216" y="5572422"/>
            <a:ext cx="3793164" cy="104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2233"/>
                </a:solidFill>
                <a:latin typeface="Arial"/>
              </a:rPr>
              <a:t>genuinely rare gold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85216" y="5658993"/>
            <a:ext cx="3793164" cy="86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5A6B78"/>
                </a:solidFill>
                <a:latin typeface="Arial"/>
              </a:rPr>
              <a:t>drop non-rare codes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2920" y="5871888"/>
            <a:ext cx="3102528" cy="209717"/>
          </a:xfrm>
          <a:prstGeom prst="rect">
            <a:avLst/>
          </a:prstGeom>
          <a:solidFill>
            <a:srgbClr val="ADD2E6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78600" y="5871888"/>
            <a:ext cx="1005840" cy="20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A4C74"/>
                </a:solidFill>
                <a:latin typeface="Arial"/>
              </a:rPr>
              <a:t>2,325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85216" y="5890176"/>
            <a:ext cx="2965368" cy="104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2233"/>
                </a:solidFill>
                <a:latin typeface="Arial"/>
              </a:rPr>
              <a:t>gold is principal dx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5216" y="5976747"/>
            <a:ext cx="2965368" cy="86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5A6B78"/>
                </a:solidFill>
                <a:latin typeface="Arial"/>
              </a:rPr>
              <a:t>drop secondary dx / past history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2920" y="6189642"/>
            <a:ext cx="2855740" cy="209717"/>
          </a:xfrm>
          <a:prstGeom prst="rect">
            <a:avLst/>
          </a:prstGeom>
          <a:solidFill>
            <a:srgbClr val="ADD2E6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431812" y="6189642"/>
            <a:ext cx="1005840" cy="20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A4C74"/>
                </a:solidFill>
                <a:latin typeface="Arial"/>
              </a:rPr>
              <a:t>1,255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85216" y="6207930"/>
            <a:ext cx="2718580" cy="104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2233"/>
                </a:solidFill>
                <a:latin typeface="Arial"/>
              </a:rPr>
              <a:t>discharge summary exists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85216" y="6294501"/>
            <a:ext cx="2718580" cy="86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5A6B78"/>
                </a:solidFill>
                <a:latin typeface="Arial"/>
              </a:rPr>
              <a:t>117 diseases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02920" y="6507396"/>
            <a:ext cx="2796743" cy="209717"/>
          </a:xfrm>
          <a:prstGeom prst="rect">
            <a:avLst/>
          </a:prstGeom>
          <a:solidFill>
            <a:srgbClr val="D1495B"/>
          </a:solidFill>
          <a:ln w="1143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372815" y="6507396"/>
            <a:ext cx="1005840" cy="20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D1495B"/>
                </a:solidFill>
                <a:latin typeface="Arial"/>
              </a:rPr>
              <a:t>1,083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85216" y="6525684"/>
            <a:ext cx="2659583" cy="104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no prior-known mention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5216" y="6612255"/>
            <a:ext cx="2659583" cy="86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F3DDE1"/>
                </a:solidFill>
                <a:latin typeface="Arial"/>
              </a:rPr>
              <a:t>-172 'hx of X', 's/p', 'known'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02920" y="6825150"/>
            <a:ext cx="2614567" cy="209717"/>
          </a:xfrm>
          <a:prstGeom prst="rect">
            <a:avLst/>
          </a:prstGeom>
          <a:solidFill>
            <a:srgbClr val="D1495B"/>
          </a:solidFill>
          <a:ln w="1143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90639" y="6825150"/>
            <a:ext cx="1005840" cy="20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D1495B"/>
                </a:solidFill>
                <a:latin typeface="Arial"/>
              </a:rPr>
              <a:t>687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5216" y="6843438"/>
            <a:ext cx="2477407" cy="104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strict-A synonym screen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85216" y="6930009"/>
            <a:ext cx="2477407" cy="86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F3DDE1"/>
                </a:solidFill>
                <a:latin typeface="Arial"/>
              </a:rPr>
              <a:t>-19.6% still had a gold synonym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02920" y="7142904"/>
            <a:ext cx="2413782" cy="209717"/>
          </a:xfrm>
          <a:prstGeom prst="rect">
            <a:avLst/>
          </a:prstGeom>
          <a:solidFill>
            <a:srgbClr val="ADD2E6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989854" y="7142904"/>
            <a:ext cx="1005840" cy="20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A4C74"/>
                </a:solidFill>
                <a:latin typeface="Arial"/>
              </a:rPr>
              <a:t>416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85216" y="7161192"/>
            <a:ext cx="2276622" cy="104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2233"/>
                </a:solidFill>
                <a:latin typeface="Arial"/>
              </a:rPr>
              <a:t>HPO-annotated diseases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85216" y="7247763"/>
            <a:ext cx="2276622" cy="86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5A6B78"/>
                </a:solidFill>
                <a:latin typeface="Arial"/>
              </a:rPr>
              <a:t>68 diseases · stratification parity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2920" y="7461504"/>
            <a:ext cx="6446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D1495B"/>
                </a:solidFill>
                <a:latin typeface="Arial"/>
              </a:rPr>
              <a:t>red = anti-leakage filters introduced here (bar length = log₁₀ surviving cases)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60919" y="446227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Arial"/>
              </a:rPr>
              <a:t>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480560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Arial"/>
              </a:rPr>
              <a:t>Leakage reorders backbones (identical 416 cases)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8823960" y="4864608"/>
            <a:ext cx="0" cy="2157984"/>
          </a:xfrm>
          <a:prstGeom prst="line">
            <a:avLst/>
          </a:prstGeom>
          <a:ln w="1143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823960" y="7022592"/>
            <a:ext cx="292608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8439912" y="6940296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0.30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8823960" y="6662928"/>
            <a:ext cx="292608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8439912" y="658063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0.35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8823960" y="6303263"/>
            <a:ext cx="292608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8439912" y="6220967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0.40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8823960" y="5943600"/>
            <a:ext cx="292608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8439912" y="5861304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0.45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8823960" y="5583936"/>
            <a:ext cx="292608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8439912" y="5501640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0.50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8823960" y="5224272"/>
            <a:ext cx="292608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8439912" y="5141976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0.55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8823960" y="4864608"/>
            <a:ext cx="292608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8439912" y="478231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0.60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616952" y="5532120"/>
            <a:ext cx="868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R@1</a:t>
            </a:r>
          </a:p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bare LLM</a:t>
            </a:r>
          </a:p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control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547811" y="7077455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leaked</a:t>
            </a:r>
          </a:p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(ICD titles in note)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654588" y="7077455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de-leaked</a:t>
            </a:r>
          </a:p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(masked presentation)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9233611" y="5929213"/>
            <a:ext cx="2106777" cy="568269"/>
          </a:xfrm>
          <a:prstGeom prst="line">
            <a:avLst/>
          </a:prstGeom>
          <a:ln w="2286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/>
          <p:cNvSpPr/>
          <p:nvPr/>
        </p:nvSpPr>
        <p:spPr>
          <a:xfrm>
            <a:off x="9194749" y="5890351"/>
            <a:ext cx="77724" cy="77724"/>
          </a:xfrm>
          <a:prstGeom prst="ellipse">
            <a:avLst/>
          </a:prstGeom>
          <a:solidFill>
            <a:srgbClr val="009E7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1301526" y="6458620"/>
            <a:ext cx="77724" cy="77724"/>
          </a:xfrm>
          <a:prstGeom prst="ellipse">
            <a:avLst/>
          </a:prstGeom>
          <a:solidFill>
            <a:srgbClr val="009E7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154619" y="5846917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009E73"/>
                </a:solidFill>
                <a:latin typeface="Arial"/>
              </a:rPr>
              <a:t>Gemini Flash 0.452</a:t>
            </a:r>
          </a:p>
        </p:txBody>
      </p:sp>
      <p:cxnSp>
        <p:nvCxnSpPr>
          <p:cNvPr id="153" name="Connector 152"/>
          <p:cNvCxnSpPr/>
          <p:nvPr/>
        </p:nvCxnSpPr>
        <p:spPr>
          <a:xfrm flipV="1">
            <a:off x="11395252" y="5576742"/>
            <a:ext cx="146304" cy="920740"/>
          </a:xfrm>
          <a:prstGeom prst="line">
            <a:avLst/>
          </a:prstGeom>
          <a:ln w="88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11568988" y="549444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09E73"/>
                </a:solidFill>
                <a:latin typeface="Arial"/>
              </a:rPr>
              <a:t>Gemini Flash 0.373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9233611" y="5583936"/>
            <a:ext cx="2106777" cy="971092"/>
          </a:xfrm>
          <a:prstGeom prst="line">
            <a:avLst/>
          </a:prstGeom>
          <a:ln w="2286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/>
          <p:cNvSpPr/>
          <p:nvPr/>
        </p:nvSpPr>
        <p:spPr>
          <a:xfrm>
            <a:off x="9194749" y="5545073"/>
            <a:ext cx="77724" cy="77724"/>
          </a:xfrm>
          <a:prstGeom prst="ellipse">
            <a:avLst/>
          </a:prstGeom>
          <a:solidFill>
            <a:srgbClr val="0072B2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301526" y="6516166"/>
            <a:ext cx="77724" cy="77724"/>
          </a:xfrm>
          <a:prstGeom prst="ellipse">
            <a:avLst/>
          </a:prstGeom>
          <a:solidFill>
            <a:srgbClr val="0072B2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154619" y="550164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0072B2"/>
                </a:solidFill>
                <a:latin typeface="Arial"/>
              </a:rPr>
              <a:t>DS V4-Pro 0.500</a:t>
            </a:r>
          </a:p>
        </p:txBody>
      </p:sp>
      <p:cxnSp>
        <p:nvCxnSpPr>
          <p:cNvPr id="159" name="Connector 158"/>
          <p:cNvCxnSpPr/>
          <p:nvPr/>
        </p:nvCxnSpPr>
        <p:spPr>
          <a:xfrm flipV="1">
            <a:off x="11395252" y="5750478"/>
            <a:ext cx="146304" cy="804550"/>
          </a:xfrm>
          <a:prstGeom prst="line">
            <a:avLst/>
          </a:prstGeom>
          <a:ln w="889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11568988" y="566818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072B2"/>
                </a:solidFill>
                <a:latin typeface="Arial"/>
              </a:rPr>
              <a:t>DS V4-Pro 0.365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9233611" y="6123432"/>
            <a:ext cx="2106777" cy="445983"/>
          </a:xfrm>
          <a:prstGeom prst="line">
            <a:avLst/>
          </a:prstGeom>
          <a:ln w="2286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Oval 161"/>
          <p:cNvSpPr/>
          <p:nvPr/>
        </p:nvSpPr>
        <p:spPr>
          <a:xfrm>
            <a:off x="9194749" y="6084570"/>
            <a:ext cx="77724" cy="77724"/>
          </a:xfrm>
          <a:prstGeom prst="ellipse">
            <a:avLst/>
          </a:prstGeom>
          <a:solidFill>
            <a:srgbClr val="D55E00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301526" y="6530553"/>
            <a:ext cx="77724" cy="77724"/>
          </a:xfrm>
          <a:prstGeom prst="ellipse">
            <a:avLst/>
          </a:prstGeom>
          <a:solidFill>
            <a:srgbClr val="D55E00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154619" y="6041136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D55E00"/>
                </a:solidFill>
                <a:latin typeface="Arial"/>
              </a:rPr>
              <a:t>GPT-5 min 0.425</a:t>
            </a:r>
          </a:p>
        </p:txBody>
      </p:sp>
      <p:cxnSp>
        <p:nvCxnSpPr>
          <p:cNvPr id="165" name="Connector 164"/>
          <p:cNvCxnSpPr/>
          <p:nvPr/>
        </p:nvCxnSpPr>
        <p:spPr>
          <a:xfrm flipV="1">
            <a:off x="11395252" y="5924214"/>
            <a:ext cx="146304" cy="645201"/>
          </a:xfrm>
          <a:prstGeom prst="line">
            <a:avLst/>
          </a:prstGeom>
          <a:ln w="889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11568988" y="584191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D55E00"/>
                </a:solidFill>
                <a:latin typeface="Arial"/>
              </a:rPr>
              <a:t>GPT-5 min 0.363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9233611" y="5202692"/>
            <a:ext cx="2106777" cy="1438656"/>
          </a:xfrm>
          <a:prstGeom prst="line">
            <a:avLst/>
          </a:prstGeom>
          <a:ln w="22860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167"/>
          <p:cNvSpPr/>
          <p:nvPr/>
        </p:nvSpPr>
        <p:spPr>
          <a:xfrm>
            <a:off x="9194749" y="5163830"/>
            <a:ext cx="77724" cy="77724"/>
          </a:xfrm>
          <a:prstGeom prst="ellipse">
            <a:avLst/>
          </a:prstGeom>
          <a:solidFill>
            <a:srgbClr val="E69F00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301526" y="6602486"/>
            <a:ext cx="77724" cy="77724"/>
          </a:xfrm>
          <a:prstGeom prst="ellipse">
            <a:avLst/>
          </a:prstGeom>
          <a:solidFill>
            <a:srgbClr val="E69F00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154619" y="5120396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E69F00"/>
                </a:solidFill>
                <a:latin typeface="Arial"/>
              </a:rPr>
              <a:t>DS V4-Flash 0.553</a:t>
            </a:r>
          </a:p>
        </p:txBody>
      </p:sp>
      <p:cxnSp>
        <p:nvCxnSpPr>
          <p:cNvPr id="171" name="Connector 170"/>
          <p:cNvCxnSpPr/>
          <p:nvPr/>
        </p:nvCxnSpPr>
        <p:spPr>
          <a:xfrm flipV="1">
            <a:off x="11395252" y="6097950"/>
            <a:ext cx="146304" cy="543398"/>
          </a:xfrm>
          <a:prstGeom prst="line">
            <a:avLst/>
          </a:prstGeom>
          <a:ln w="8890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11568988" y="601565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69F00"/>
                </a:solidFill>
                <a:latin typeface="Arial"/>
              </a:rPr>
              <a:t>DS V4-Flash 0.353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507931" y="4881067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D1495B"/>
                </a:solidFill>
                <a:latin typeface="Arial"/>
              </a:rPr>
              <a:t>V4-Flash appears best</a:t>
            </a:r>
          </a:p>
          <a:p>
            <a:pPr algn="l"/>
            <a:r>
              <a:rPr sz="750" b="0" i="0">
                <a:solidFill>
                  <a:srgbClr val="D1495B"/>
                </a:solidFill>
                <a:latin typeface="Arial"/>
              </a:rPr>
              <a:t>when leaked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01784" y="6864339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072B2"/>
                </a:solidFill>
                <a:latin typeface="Arial"/>
              </a:rPr>
              <a:t>all four converge</a:t>
            </a:r>
          </a:p>
          <a:p>
            <a:pPr algn="l"/>
            <a:r>
              <a:rPr sz="750" b="0" i="0">
                <a:solidFill>
                  <a:srgbClr val="0072B2"/>
                </a:solidFill>
                <a:latin typeface="Arial"/>
              </a:rPr>
              <a:t>to 0.35–0.37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